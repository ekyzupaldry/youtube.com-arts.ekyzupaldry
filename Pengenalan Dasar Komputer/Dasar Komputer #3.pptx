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58" r:id="rId3"/>
    <p:sldId id="271" r:id="rId4"/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7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84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ktikominfo.id/id/informasi/pengetahuan/3_komponen_sistem_komputer_hardware_software_dan_brainware-922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3"/>
              </a:rPr>
              <a:t>https://www.baktikominfo.id/id/informasi/pengetahuan/3_komponen_sistem_komputer_hardware_software_dan</a:t>
            </a:r>
            <a:r>
              <a:rPr lang="en-US" sz="1200">
                <a:latin typeface="Montserrat" panose="00000500000000000000" pitchFamily="2" charset="0"/>
                <a:hlinkClick r:id="rId3"/>
              </a:rPr>
              <a:t>_brainware-922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55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>
              <a:latin typeface="Montserrat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33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3443287" y="3429000"/>
            <a:ext cx="5305425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#3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Komponen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Utama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Sistem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Stored Data 9"/>
          <p:cNvSpPr/>
          <p:nvPr/>
        </p:nvSpPr>
        <p:spPr>
          <a:xfrm rot="10800000" flipV="1">
            <a:off x="4026691" y="1709744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132" y="822339"/>
            <a:ext cx="3471558" cy="5203800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3643311" y="1709743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30" name="Flowchart: Stored Data 29"/>
          <p:cNvSpPr/>
          <p:nvPr/>
        </p:nvSpPr>
        <p:spPr>
          <a:xfrm rot="10800000" flipV="1">
            <a:off x="4026690" y="4410078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BRAINWARE</a:t>
            </a:r>
          </a:p>
        </p:txBody>
      </p:sp>
      <p:sp>
        <p:nvSpPr>
          <p:cNvPr id="31" name="Oval 30"/>
          <p:cNvSpPr/>
          <p:nvPr/>
        </p:nvSpPr>
        <p:spPr>
          <a:xfrm>
            <a:off x="3643310" y="4410077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32" name="Flowchart: Stored Data 31"/>
          <p:cNvSpPr/>
          <p:nvPr/>
        </p:nvSpPr>
        <p:spPr>
          <a:xfrm rot="10800000" flipV="1">
            <a:off x="4026693" y="3040859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SOFTWARE</a:t>
            </a:r>
          </a:p>
        </p:txBody>
      </p:sp>
      <p:sp>
        <p:nvSpPr>
          <p:cNvPr id="33" name="Oval 32"/>
          <p:cNvSpPr/>
          <p:nvPr/>
        </p:nvSpPr>
        <p:spPr>
          <a:xfrm>
            <a:off x="3643313" y="3040858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950" y="1262706"/>
            <a:ext cx="2280272" cy="4223694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Terdiri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Atas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Utama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24722" y="1189843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Hardware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memiliki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wujud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6248401" y="1189842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7324721" y="2527317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Software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unak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berwujud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dan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bertugas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memberi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instruksi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kepada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keras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324722" y="3899703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Brainware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engguna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 orang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menggunakan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210298" y="3059909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 flipV="1">
            <a:off x="6210296" y="3290887"/>
            <a:ext cx="1114424" cy="497683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 49"/>
          <p:cNvSpPr/>
          <p:nvPr/>
        </p:nvSpPr>
        <p:spPr>
          <a:xfrm>
            <a:off x="6248398" y="3899703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690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9" grpId="0" animBg="1"/>
      <p:bldP spid="2" grpId="0" animBg="1"/>
      <p:bldP spid="30" grpId="0" animBg="1"/>
      <p:bldP spid="31" grpId="0" animBg="1"/>
      <p:bldP spid="32" grpId="0" animBg="1"/>
      <p:bldP spid="33" grpId="0" animBg="1"/>
      <p:bldP spid="36" grpId="0" animBg="1"/>
      <p:bldP spid="38" grpId="0" animBg="1"/>
      <p:bldP spid="38" grpId="1" animBg="1"/>
      <p:bldP spid="41" grpId="0" animBg="1"/>
      <p:bldP spid="41" grpId="1" animBg="1"/>
      <p:bldP spid="42" grpId="0" animBg="1"/>
      <p:bldP spid="42" grpId="1" animBg="1"/>
      <p:bldP spid="44" grpId="0" animBg="1"/>
      <p:bldP spid="46" grpId="0" animBg="1"/>
      <p:bldP spid="46" grpId="1" animBg="1"/>
      <p:bldP spid="49" grpId="0" animBg="1"/>
      <p:bldP spid="49" grpId="1" animBg="1"/>
      <p:bldP spid="5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Stored Data 9"/>
          <p:cNvSpPr/>
          <p:nvPr/>
        </p:nvSpPr>
        <p:spPr>
          <a:xfrm rot="10800000" flipV="1">
            <a:off x="4026691" y="1709744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HARDWARE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5132" y="822339"/>
            <a:ext cx="3471558" cy="5203800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3643311" y="1709743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1</a:t>
            </a:r>
          </a:p>
        </p:txBody>
      </p:sp>
      <p:sp>
        <p:nvSpPr>
          <p:cNvPr id="30" name="Flowchart: Stored Data 29"/>
          <p:cNvSpPr/>
          <p:nvPr/>
        </p:nvSpPr>
        <p:spPr>
          <a:xfrm rot="10800000" flipV="1">
            <a:off x="4026690" y="4410078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BRAINWARE</a:t>
            </a:r>
          </a:p>
        </p:txBody>
      </p:sp>
      <p:sp>
        <p:nvSpPr>
          <p:cNvPr id="31" name="Oval 30"/>
          <p:cNvSpPr/>
          <p:nvPr/>
        </p:nvSpPr>
        <p:spPr>
          <a:xfrm>
            <a:off x="3643310" y="4410077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</p:txBody>
      </p:sp>
      <p:sp>
        <p:nvSpPr>
          <p:cNvPr id="32" name="Flowchart: Stored Data 31"/>
          <p:cNvSpPr/>
          <p:nvPr/>
        </p:nvSpPr>
        <p:spPr>
          <a:xfrm rot="10800000" flipV="1">
            <a:off x="4026693" y="3040859"/>
            <a:ext cx="2593183" cy="766761"/>
          </a:xfrm>
          <a:prstGeom prst="flowChartOnlineStorag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itchFamily="2" charset="0"/>
              </a:rPr>
              <a:t>SOFTWARE</a:t>
            </a:r>
          </a:p>
        </p:txBody>
      </p:sp>
      <p:sp>
        <p:nvSpPr>
          <p:cNvPr id="33" name="Oval 32"/>
          <p:cNvSpPr/>
          <p:nvPr/>
        </p:nvSpPr>
        <p:spPr>
          <a:xfrm>
            <a:off x="3643313" y="3040858"/>
            <a:ext cx="823912" cy="7667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3950" y="1262706"/>
            <a:ext cx="2280272" cy="4223694"/>
          </a:xfrm>
          <a:prstGeom prst="roundRect">
            <a:avLst/>
          </a:prstGeom>
          <a:solidFill>
            <a:srgbClr val="0FFFFF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Sistem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Terdiri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Atas</a:t>
            </a:r>
            <a:endParaRPr lang="en-US" sz="20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pPr algn="ctr"/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3</a:t>
            </a:r>
          </a:p>
          <a:p>
            <a:pPr algn="ctr"/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Utama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24722" y="1189843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Hardware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memiliki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wujud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6248401" y="1189842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7324721" y="2527317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i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Software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L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unak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komponen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tidak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berwujud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dan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bertugas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memberi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instruksi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kepada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perangkat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keras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324722" y="3899703"/>
            <a:ext cx="4667251" cy="180656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Brainware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(</a:t>
            </a:r>
            <a:r>
              <a:rPr lang="en-US" sz="1600" b="1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engguna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)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&gt;&gt;  orang yang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menggunakan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komputer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6210298" y="3059909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/>
          <p:cNvSpPr/>
          <p:nvPr/>
        </p:nvSpPr>
        <p:spPr>
          <a:xfrm flipV="1">
            <a:off x="6210296" y="3290887"/>
            <a:ext cx="1114424" cy="497683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 49"/>
          <p:cNvSpPr/>
          <p:nvPr/>
        </p:nvSpPr>
        <p:spPr>
          <a:xfrm>
            <a:off x="6248398" y="3899703"/>
            <a:ext cx="1114424" cy="600857"/>
          </a:xfrm>
          <a:custGeom>
            <a:avLst/>
            <a:gdLst>
              <a:gd name="connsiteX0" fmla="*/ 16631 w 1045331"/>
              <a:gd name="connsiteY0" fmla="*/ 705195 h 705195"/>
              <a:gd name="connsiteX1" fmla="*/ 140456 w 1045331"/>
              <a:gd name="connsiteY1" fmla="*/ 19395 h 705195"/>
              <a:gd name="connsiteX2" fmla="*/ 1045331 w 1045331"/>
              <a:gd name="connsiteY2" fmla="*/ 181320 h 70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5331" h="705195">
                <a:moveTo>
                  <a:pt x="16631" y="705195"/>
                </a:moveTo>
                <a:cubicBezTo>
                  <a:pt x="-7182" y="405951"/>
                  <a:pt x="-30994" y="106707"/>
                  <a:pt x="140456" y="19395"/>
                </a:cubicBezTo>
                <a:cubicBezTo>
                  <a:pt x="311906" y="-67918"/>
                  <a:pt x="926269" y="167033"/>
                  <a:pt x="1045331" y="181320"/>
                </a:cubicBezTo>
              </a:path>
            </a:pathLst>
          </a:cu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2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387" y="207809"/>
            <a:ext cx="10515600" cy="736087"/>
          </a:xfrm>
        </p:spPr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Mana</a:t>
            </a:r>
            <a:r>
              <a:rPr lang="en-US" sz="3000" dirty="0">
                <a:latin typeface="Montserrat" pitchFamily="2" charset="0"/>
              </a:rPr>
              <a:t> yang </a:t>
            </a:r>
            <a:r>
              <a:rPr lang="en-US" sz="3000" dirty="0" err="1">
                <a:latin typeface="Montserrat" pitchFamily="2" charset="0"/>
              </a:rPr>
              <a:t>lebih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penting</a:t>
            </a:r>
            <a:r>
              <a:rPr lang="en-US" sz="3000" dirty="0">
                <a:latin typeface="Montserrat" pitchFamily="2" charset="0"/>
              </a:rPr>
              <a:t>?</a:t>
            </a:r>
          </a:p>
        </p:txBody>
      </p:sp>
      <p:sp>
        <p:nvSpPr>
          <p:cNvPr id="5" name="Oval 4"/>
          <p:cNvSpPr/>
          <p:nvPr/>
        </p:nvSpPr>
        <p:spPr>
          <a:xfrm>
            <a:off x="4611328" y="1229031"/>
            <a:ext cx="2236842" cy="1917292"/>
          </a:xfrm>
          <a:prstGeom prst="ellipse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BRAINWARE</a:t>
            </a:r>
            <a:endParaRPr lang="en-US" sz="14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2374486" y="4272243"/>
            <a:ext cx="2236842" cy="1917292"/>
          </a:xfrm>
          <a:prstGeom prst="ellipse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HARDWARE</a:t>
            </a:r>
            <a:endParaRPr lang="en-US" sz="14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48170" y="4272243"/>
            <a:ext cx="2236842" cy="1917292"/>
          </a:xfrm>
          <a:prstGeom prst="ellipse">
            <a:avLst/>
          </a:prstGeom>
          <a:solidFill>
            <a:srgbClr val="0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SOFTWARE</a:t>
            </a:r>
            <a:endParaRPr lang="en-US" sz="1400" b="1" dirty="0">
              <a:solidFill>
                <a:schemeClr val="bg2">
                  <a:lumMod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3" name="Up-Down Arrow 12"/>
          <p:cNvSpPr/>
          <p:nvPr/>
        </p:nvSpPr>
        <p:spPr>
          <a:xfrm rot="2416047">
            <a:off x="4148916" y="2704215"/>
            <a:ext cx="328722" cy="1769806"/>
          </a:xfrm>
          <a:prstGeom prst="up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Up-Down Arrow 14"/>
          <p:cNvSpPr/>
          <p:nvPr/>
        </p:nvSpPr>
        <p:spPr>
          <a:xfrm rot="5400000">
            <a:off x="5565387" y="4257925"/>
            <a:ext cx="328722" cy="1945671"/>
          </a:xfrm>
          <a:prstGeom prst="up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Up-Down Arrow 15"/>
          <p:cNvSpPr/>
          <p:nvPr/>
        </p:nvSpPr>
        <p:spPr>
          <a:xfrm rot="19140613">
            <a:off x="6906796" y="2689471"/>
            <a:ext cx="328722" cy="1769806"/>
          </a:xfrm>
          <a:prstGeom prst="up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41900" y="3625912"/>
            <a:ext cx="13756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latin typeface="Montserrat" pitchFamily="2" charset="0"/>
              </a:rPr>
              <a:t>S</a:t>
            </a:r>
            <a:r>
              <a:rPr lang="en-US" dirty="0" err="1">
                <a:latin typeface="Montserrat" pitchFamily="2" charset="0"/>
              </a:rPr>
              <a:t>istem</a:t>
            </a:r>
            <a:endParaRPr lang="en-US" dirty="0">
              <a:latin typeface="Montserrat" pitchFamily="2" charset="0"/>
            </a:endParaRPr>
          </a:p>
          <a:p>
            <a:pPr algn="ctr"/>
            <a:r>
              <a:rPr lang="en-US" b="1" dirty="0" err="1">
                <a:latin typeface="Montserrat" pitchFamily="2" charset="0"/>
              </a:rPr>
              <a:t>K</a:t>
            </a:r>
            <a:r>
              <a:rPr lang="en-US" dirty="0" err="1">
                <a:latin typeface="Montserrat" pitchFamily="2" charset="0"/>
              </a:rPr>
              <a:t>omputer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5531" y="5461411"/>
            <a:ext cx="139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Montserrat" pitchFamily="2" charset="0"/>
              </a:rPr>
              <a:t>Smartphone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215" y="5441944"/>
            <a:ext cx="139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rgbClr val="FF0000"/>
                </a:solidFill>
                <a:latin typeface="Montserrat" pitchFamily="2" charset="0"/>
              </a:rPr>
              <a:t>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2373" y="2403776"/>
            <a:ext cx="139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err="1">
                <a:solidFill>
                  <a:srgbClr val="FF0000"/>
                </a:solidFill>
                <a:latin typeface="Montserrat" pitchFamily="2" charset="0"/>
              </a:rPr>
              <a:t>Diri</a:t>
            </a:r>
            <a:r>
              <a:rPr lang="en-US" sz="1400" b="1" i="1" dirty="0">
                <a:solidFill>
                  <a:srgbClr val="FF0000"/>
                </a:solidFill>
                <a:latin typeface="Montserrat" pitchFamily="2" charset="0"/>
              </a:rPr>
              <a:t> Kita</a:t>
            </a:r>
          </a:p>
        </p:txBody>
      </p:sp>
    </p:spTree>
    <p:extLst>
      <p:ext uri="{BB962C8B-B14F-4D97-AF65-F5344CB8AC3E}">
        <p14:creationId xmlns:p14="http://schemas.microsoft.com/office/powerpoint/2010/main" val="1538729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9" grpId="0" animBg="1"/>
      <p:bldP spid="10" grpId="0" animBg="1"/>
      <p:bldP spid="13" grpId="0" animBg="1"/>
      <p:bldP spid="15" grpId="0" animBg="1"/>
      <p:bldP spid="16" grpId="0" animBg="1"/>
      <p:bldP spid="4" grpId="0"/>
      <p:bldP spid="3" grpId="0"/>
      <p:bldP spid="11" grpId="0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164</Words>
  <Application>Microsoft Office PowerPoint</Application>
  <PresentationFormat>Widescreen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Mana yang lebih penting?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874</cp:revision>
  <dcterms:created xsi:type="dcterms:W3CDTF">2021-04-24T02:20:04Z</dcterms:created>
  <dcterms:modified xsi:type="dcterms:W3CDTF">2023-08-26T17:39:28Z</dcterms:modified>
</cp:coreProperties>
</file>