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5.jpg" ContentType="image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1" r:id="rId2"/>
    <p:sldId id="282" r:id="rId3"/>
    <p:sldId id="285" r:id="rId4"/>
    <p:sldId id="274" r:id="rId5"/>
    <p:sldId id="277" r:id="rId6"/>
    <p:sldId id="275" r:id="rId7"/>
    <p:sldId id="276" r:id="rId8"/>
    <p:sldId id="284" r:id="rId9"/>
    <p:sldId id="283" r:id="rId10"/>
    <p:sldId id="294" r:id="rId11"/>
    <p:sldId id="286" r:id="rId12"/>
    <p:sldId id="287" r:id="rId13"/>
    <p:sldId id="288" r:id="rId14"/>
    <p:sldId id="290" r:id="rId15"/>
    <p:sldId id="289" r:id="rId16"/>
    <p:sldId id="291" r:id="rId17"/>
    <p:sldId id="292" r:id="rId18"/>
    <p:sldId id="293" r:id="rId19"/>
    <p:sldId id="29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FFF"/>
    <a:srgbClr val="6B4809"/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86499" autoAdjust="0"/>
  </p:normalViewPr>
  <p:slideViewPr>
    <p:cSldViewPr snapToGrid="0">
      <p:cViewPr varScale="1">
        <p:scale>
          <a:sx n="60" d="100"/>
          <a:sy n="60" d="100"/>
        </p:scale>
        <p:origin x="85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904"/>
    </p:cViewPr>
  </p:outlineViewPr>
  <p:notesTextViewPr>
    <p:cViewPr>
      <p:scale>
        <a:sx n="1" d="1"/>
        <a:sy n="1" d="1"/>
      </p:scale>
      <p:origin x="0" y="-54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125E2-BA86-42E6-B646-607113BC3EE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43C-AAF8-42C1-BB04-F031C01A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amus.tokopedia.com/p/perangkat-lunak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qwords.com/blog/macam-macam-sistem-operasi" TargetMode="External"/><Relationship Id="rId4" Type="http://schemas.openxmlformats.org/officeDocument/2006/relationships/hyperlink" Target="https://www.goodcore.co.uk/blog/types-of-software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3"/>
              </a:rPr>
              <a:t>https://kamus.tokopedia.com/p/perangkat-lunak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4"/>
              </a:rPr>
              <a:t>https://www.goodcore.co.uk/blog/types-of-software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5"/>
              </a:rPr>
              <a:t>https://sis.binus.ac.id/2016/12/15/open-source-free-software-dan-freeware</a:t>
            </a: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5"/>
              </a:rPr>
              <a:t>https://qwords.com/blog</a:t>
            </a:r>
            <a:r>
              <a:rPr lang="en-US" sz="1200">
                <a:latin typeface="Montserrat" pitchFamily="2" charset="0"/>
                <a:hlinkClick r:id="rId5"/>
              </a:rPr>
              <a:t>/macam-macam-sistem-operasi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8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95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8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07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54A-B5E4-46BE-96D3-19229C8A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C46C-E13F-445C-B714-5281DA3C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C094-9635-4D67-9BDD-8E6EEB74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AA9-234E-40FF-BE62-1F9432D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E945-E56F-4AC8-8B74-DBBB9C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02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A93-5FE2-44C6-8700-40CACAD1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E75A-D26A-4BB9-B0E9-21C9C3AE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70ED-CED3-488A-830D-029CA478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2784-787E-4077-9271-F5811399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7317-B926-4584-9234-F9352A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24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2CFD-81C8-4476-ABB7-DE21052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F3D6-5EC6-4330-8475-3C1F844C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8A27-3B28-499C-8A45-1CB9CAE0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806D-12F8-40B1-805C-5C8F83D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21AF-27C6-44D5-B5F3-DC13CF7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7604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BF6-A118-4423-ADC6-4609B40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451D-C080-4228-B10A-E6AD68CE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F8468-1EBC-4E2A-936F-83F5195D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ED6-F766-4C0C-9EC2-8E17ED2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A370-262E-4CF6-9A07-E288E5F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1239-9AB6-4AAB-ABC8-1B8B61E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771C-7E2C-49A2-99F7-FBEB64D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5D2-8AE3-4651-93E3-457286A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C1F8-E035-41E9-94E0-C73A9B6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747B9-8C2B-4DB3-BFF4-05F88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0F90-2218-45E2-8CE8-510DE1ED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434CC-5F5E-4FF7-97E1-373D8BF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274D1-43F6-4CB7-A2E9-D1637BEE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6571-058D-4B02-BEB5-AAB96537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7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779-BE38-44D5-9959-5B164292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9A-8352-4960-95EA-0F597F09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6C4C9-761E-4758-96BD-F884925E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51A1E-8F82-44AE-AED5-9128EA1A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114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A2D92-CADF-440C-947E-F3DE90F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876D0-BE27-46C4-BAEA-AEF6EEB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0022-C951-41B8-9D28-ECD9494B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76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9BA4-8620-4880-AB6A-EB6127B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F07-9106-417E-BA0D-8CB84E6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13716-33BB-485E-A5FB-1D324D96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23C9-3A6E-408B-B5D6-2B79C2C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768F-8468-4633-ACEA-F0DC8A9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BC8B-164C-4019-87F1-B3F224C1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082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F3D-F170-4B3C-A70E-1D96B60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7D2CC-E188-4B2C-BCC0-AC21AECF2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297DF-7B91-4747-8875-044E50A5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DA27-711D-483E-8C51-67A75BA7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738CC-1B2E-483C-80F9-C3D122B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2453D-074C-48B0-9EBC-E61DB955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690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FBD8-CBF7-42CE-8D6F-58AA0B1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CA9BA-2A02-4CEA-9E91-0D7792C3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ACA1-0010-4694-A6F6-DF0DEDA1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B7B9-242D-4397-B640-8F9D6F54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E115-D43A-400A-8808-28CDEF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2177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C3801-B72C-43F9-B28E-C710221B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F5AE-D439-421B-AAC9-1252BC214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4011-C163-4EAA-9104-4197C9EB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5E12-BA61-421A-92BC-9400287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A5FD-FF72-411C-8DC9-289ACCB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2D3B-4714-4844-89EF-A49F26DA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5EB5-3248-414E-932F-5CDFB1F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E50-A3EA-4DC8-870D-C5DE79B6D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7345-AF83-4CE9-BC67-587913DC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4082-3287-407B-8653-5A0B6D92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3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words.com/blog/macam-macam-sistem-operasi" TargetMode="Externa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dcore.co.uk/blog/types-of-softwar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dcore.co.uk/blog/types-of-software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05796-321A-4803-85AD-F5DBEF60D8F3}"/>
              </a:ext>
            </a:extLst>
          </p:cNvPr>
          <p:cNvSpPr/>
          <p:nvPr/>
        </p:nvSpPr>
        <p:spPr>
          <a:xfrm>
            <a:off x="789495" y="2693883"/>
            <a:ext cx="10613010" cy="731520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PENGENALAN DASAR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19E30-7F70-44CF-95F9-C831B81812F8}"/>
              </a:ext>
            </a:extLst>
          </p:cNvPr>
          <p:cNvSpPr/>
          <p:nvPr/>
        </p:nvSpPr>
        <p:spPr>
          <a:xfrm>
            <a:off x="2659477" y="3425403"/>
            <a:ext cx="6873046" cy="616889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#7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Komponen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Utama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Sistem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-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Software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72493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Stored Data 9"/>
          <p:cNvSpPr/>
          <p:nvPr/>
        </p:nvSpPr>
        <p:spPr>
          <a:xfrm rot="10800000" flipV="1">
            <a:off x="4026691" y="1709744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HARDWARE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5132" y="822339"/>
            <a:ext cx="3471558" cy="5203800"/>
          </a:xfrm>
          <a:prstGeom prst="roundRect">
            <a:avLst/>
          </a:prstGeom>
          <a:solidFill>
            <a:srgbClr val="0FFF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3643311" y="1709743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</a:t>
            </a:r>
          </a:p>
        </p:txBody>
      </p:sp>
      <p:sp>
        <p:nvSpPr>
          <p:cNvPr id="30" name="Flowchart: Stored Data 29"/>
          <p:cNvSpPr/>
          <p:nvPr/>
        </p:nvSpPr>
        <p:spPr>
          <a:xfrm rot="10800000" flipV="1">
            <a:off x="4026690" y="4410078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BRAINWARE</a:t>
            </a:r>
          </a:p>
        </p:txBody>
      </p:sp>
      <p:sp>
        <p:nvSpPr>
          <p:cNvPr id="31" name="Oval 30"/>
          <p:cNvSpPr/>
          <p:nvPr/>
        </p:nvSpPr>
        <p:spPr>
          <a:xfrm>
            <a:off x="3643310" y="4410077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</a:t>
            </a:r>
          </a:p>
        </p:txBody>
      </p:sp>
      <p:sp>
        <p:nvSpPr>
          <p:cNvPr id="32" name="Flowchart: Stored Data 31"/>
          <p:cNvSpPr/>
          <p:nvPr/>
        </p:nvSpPr>
        <p:spPr>
          <a:xfrm rot="10800000" flipV="1">
            <a:off x="4026693" y="3040859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SOFTWARE</a:t>
            </a:r>
          </a:p>
        </p:txBody>
      </p:sp>
      <p:sp>
        <p:nvSpPr>
          <p:cNvPr id="33" name="Oval 32"/>
          <p:cNvSpPr/>
          <p:nvPr/>
        </p:nvSpPr>
        <p:spPr>
          <a:xfrm>
            <a:off x="3643313" y="3040858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3950" y="1262706"/>
            <a:ext cx="2280272" cy="4223694"/>
          </a:xfrm>
          <a:prstGeom prst="roundRect">
            <a:avLst/>
          </a:prstGeom>
          <a:solidFill>
            <a:srgbClr val="0FFF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Terdiri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Atas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</a:t>
            </a:r>
          </a:p>
          <a:p>
            <a:pPr algn="ctr"/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Komponen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Utama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324721" y="2527317"/>
            <a:ext cx="4667251" cy="180656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Software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erangkat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unak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)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&gt;&gt;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komponen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tidak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berwujud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memberi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instruksi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kepada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keras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6210298" y="3059909"/>
            <a:ext cx="1114424" cy="600857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 flipV="1">
            <a:off x="6210296" y="3290887"/>
            <a:ext cx="1114424" cy="497683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44014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 animBg="1"/>
      <p:bldP spid="2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42" grpId="0" animBg="1"/>
      <p:bldP spid="46" grpId="0" animBg="1"/>
      <p:bldP spid="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F24B5-E78E-4860-9ADD-BB769FCDB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000" dirty="0" err="1">
                <a:latin typeface="Montserrat" panose="00000500000000000000" pitchFamily="2" charset="0"/>
              </a:rPr>
              <a:t>Jenis-Jenis</a:t>
            </a:r>
            <a:r>
              <a:rPr lang="en-US" sz="3000" dirty="0">
                <a:latin typeface="Montserrat" panose="00000500000000000000" pitchFamily="2" charset="0"/>
              </a:rPr>
              <a:t> Software </a:t>
            </a:r>
            <a:r>
              <a:rPr lang="en-US" sz="3000" dirty="0" err="1">
                <a:latin typeface="Montserrat" panose="00000500000000000000" pitchFamily="2" charset="0"/>
              </a:rPr>
              <a:t>Berdasarkan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b="1" dirty="0" err="1">
                <a:latin typeface="Montserrat" panose="00000500000000000000" pitchFamily="2" charset="0"/>
              </a:rPr>
              <a:t>Fungsi</a:t>
            </a:r>
            <a:r>
              <a:rPr lang="en-US" sz="3000" dirty="0" err="1">
                <a:latin typeface="Montserrat" panose="00000500000000000000" pitchFamily="2" charset="0"/>
              </a:rPr>
              <a:t>nya</a:t>
            </a:r>
            <a:endParaRPr lang="en-US" sz="30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89946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Sistem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Operasi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Lunak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Operasi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adalah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lunak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menghubungkan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8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Hardware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8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8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8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Lunak</a:t>
            </a:r>
            <a:r>
              <a:rPr lang="en-US" sz="18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8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Aplikasi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8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Brainware</a:t>
            </a:r>
            <a:endParaRPr lang="en-US" sz="18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275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8025" y="2192237"/>
            <a:ext cx="3376907" cy="189636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54933" y="2035494"/>
            <a:ext cx="3250480" cy="21669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9878" y="2170805"/>
            <a:ext cx="3376907" cy="1896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0725" y="4367835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0480" y="4389268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Linux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2147" y="4367835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Montserrat" pitchFamily="2" charset="0"/>
              </a:rPr>
              <a:t>MacOS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5145" y="5732206"/>
            <a:ext cx="10304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itchFamily="2" charset="0"/>
              </a:rPr>
              <a:t>Sumber</a:t>
            </a:r>
            <a:r>
              <a:rPr lang="en-US" sz="800" dirty="0">
                <a:latin typeface="Montserrat" pitchFamily="2" charset="0"/>
              </a:rPr>
              <a:t> </a:t>
            </a:r>
            <a:r>
              <a:rPr lang="en-US" sz="800" dirty="0" err="1">
                <a:latin typeface="Montserrat" pitchFamily="2" charset="0"/>
              </a:rPr>
              <a:t>Referensi</a:t>
            </a:r>
            <a:r>
              <a:rPr lang="en-US" sz="800" dirty="0">
                <a:latin typeface="Montserrat" pitchFamily="2" charset="0"/>
              </a:rPr>
              <a:t> : </a:t>
            </a:r>
            <a:r>
              <a:rPr lang="en-US" sz="800" dirty="0">
                <a:latin typeface="Montserrat" pitchFamily="2" charset="0"/>
                <a:hlinkClick r:id="rId6"/>
              </a:rPr>
              <a:t>https://qwords.com/blog/macam-macam-sistem-operasi</a:t>
            </a:r>
            <a:endParaRPr lang="en-US" sz="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6297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235"/>
          </a:xfrm>
        </p:spPr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Aplikasi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4851"/>
            <a:ext cx="10515600" cy="57344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Aplikasi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berfungsi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u="sng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membantu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menyelesaikan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tugas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tertentu</a:t>
            </a: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i="1" dirty="0">
              <a:latin typeface="Montserrat" pitchFamily="2" charset="0"/>
            </a:endParaRPr>
          </a:p>
          <a:p>
            <a:endParaRPr lang="en-US" sz="1800" dirty="0">
              <a:latin typeface="Montserrat" pitchFamily="2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97194" y="2127251"/>
            <a:ext cx="10515600" cy="3685720"/>
          </a:xfrm>
          <a:prstGeom prst="rect">
            <a:avLst/>
          </a:prstGeom>
        </p:spPr>
        <p:txBody>
          <a:bodyPr vert="horz" lIns="91440" tIns="45720" rIns="91440" bIns="45720" numCol="2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>
                <a:latin typeface="Montserrat" pitchFamily="2" charset="0"/>
              </a:rPr>
              <a:t>Perkantoran</a:t>
            </a:r>
            <a:endParaRPr lang="en-US" sz="1800" dirty="0">
              <a:latin typeface="Montserrat" pitchFamily="2" charset="0"/>
            </a:endParaRPr>
          </a:p>
          <a:p>
            <a:pPr lvl="1"/>
            <a:r>
              <a:rPr lang="en-US" sz="1800" dirty="0">
                <a:latin typeface="Montserrat" pitchFamily="2" charset="0"/>
              </a:rPr>
              <a:t>Microsoft Word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Microsoft Excel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Microsoft PowerPoint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Microsoft Access</a:t>
            </a:r>
          </a:p>
          <a:p>
            <a:pPr lvl="1"/>
            <a:r>
              <a:rPr lang="en-US" sz="1800" dirty="0" err="1">
                <a:latin typeface="Montserrat" pitchFamily="2" charset="0"/>
              </a:rPr>
              <a:t>dll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 err="1">
                <a:latin typeface="Montserrat" pitchFamily="2" charset="0"/>
              </a:rPr>
              <a:t>Pemutar</a:t>
            </a:r>
            <a:r>
              <a:rPr lang="en-US" sz="1800" dirty="0">
                <a:latin typeface="Montserrat" pitchFamily="2" charset="0"/>
              </a:rPr>
              <a:t> Media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GOM Player</a:t>
            </a:r>
          </a:p>
          <a:p>
            <a:pPr lvl="1"/>
            <a:r>
              <a:rPr lang="en-US" sz="1800" dirty="0" err="1">
                <a:latin typeface="Montserrat" pitchFamily="2" charset="0"/>
              </a:rPr>
              <a:t>Winamp</a:t>
            </a:r>
            <a:endParaRPr lang="en-US" sz="1800" dirty="0">
              <a:latin typeface="Montserrat" pitchFamily="2" charset="0"/>
            </a:endParaRPr>
          </a:p>
          <a:p>
            <a:pPr lvl="1"/>
            <a:r>
              <a:rPr lang="en-US" sz="1800" dirty="0" err="1">
                <a:latin typeface="Montserrat" pitchFamily="2" charset="0"/>
              </a:rPr>
              <a:t>dll</a:t>
            </a:r>
            <a:endParaRPr lang="en-US" sz="1800" dirty="0">
              <a:latin typeface="Montserrat" pitchFamily="2" charset="0"/>
            </a:endParaRPr>
          </a:p>
          <a:p>
            <a:pPr lvl="1"/>
            <a:endParaRPr lang="en-US" sz="1800" dirty="0">
              <a:latin typeface="Montserrat" pitchFamily="2" charset="0"/>
            </a:endParaRPr>
          </a:p>
          <a:p>
            <a:r>
              <a:rPr lang="en-US" sz="1800" dirty="0" err="1">
                <a:latin typeface="Montserrat" pitchFamily="2" charset="0"/>
              </a:rPr>
              <a:t>Desain</a:t>
            </a:r>
            <a:r>
              <a:rPr lang="en-US" sz="1800" dirty="0">
                <a:latin typeface="Montserrat" pitchFamily="2" charset="0"/>
              </a:rPr>
              <a:t> &amp; Editing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Photoshop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Corel Draw</a:t>
            </a:r>
          </a:p>
          <a:p>
            <a:pPr lvl="1"/>
            <a:r>
              <a:rPr lang="en-US" sz="1800" dirty="0" err="1">
                <a:latin typeface="Montserrat" pitchFamily="2" charset="0"/>
              </a:rPr>
              <a:t>Filmora</a:t>
            </a:r>
            <a:endParaRPr lang="en-US" sz="1800" dirty="0">
              <a:latin typeface="Montserrat" pitchFamily="2" charset="0"/>
            </a:endParaRPr>
          </a:p>
          <a:p>
            <a:pPr lvl="1"/>
            <a:r>
              <a:rPr lang="en-US" sz="1800" dirty="0" err="1">
                <a:latin typeface="Montserrat" pitchFamily="2" charset="0"/>
              </a:rPr>
              <a:t>dll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>
                <a:latin typeface="Montserrat" pitchFamily="2" charset="0"/>
              </a:rPr>
              <a:t>Web Browser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Google Chrome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Mozilla Firefox</a:t>
            </a:r>
          </a:p>
          <a:p>
            <a:pPr lvl="1"/>
            <a:r>
              <a:rPr lang="en-US" sz="1800" dirty="0" err="1">
                <a:latin typeface="Montserrat" pitchFamily="2" charset="0"/>
              </a:rPr>
              <a:t>dll</a:t>
            </a: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52415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Bahasa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Pemrograman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Bahasa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Pemrograman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s</a:t>
            </a:r>
            <a:r>
              <a:rPr lang="id-ID" sz="1800" dirty="0">
                <a:latin typeface="Montserrat" pitchFamily="2" charset="0"/>
              </a:rPr>
              <a:t>ekumpulan  perintah/instruksi yang digunakan agar  dapat berkomunikasi dengan komputer untuk membuat Program</a:t>
            </a:r>
            <a:r>
              <a:rPr lang="en-US" sz="1800" dirty="0">
                <a:latin typeface="Montserrat" pitchFamily="2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Contoh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r>
              <a:rPr lang="en-US" sz="1800" dirty="0">
                <a:latin typeface="Montserrat" pitchFamily="2" charset="0"/>
              </a:rPr>
              <a:t>C</a:t>
            </a:r>
          </a:p>
          <a:p>
            <a:r>
              <a:rPr lang="en-US" sz="1800" dirty="0">
                <a:latin typeface="Montserrat" pitchFamily="2" charset="0"/>
              </a:rPr>
              <a:t>C++</a:t>
            </a:r>
          </a:p>
          <a:p>
            <a:r>
              <a:rPr lang="en-US" sz="1800" dirty="0">
                <a:latin typeface="Montserrat" pitchFamily="2" charset="0"/>
              </a:rPr>
              <a:t>C#</a:t>
            </a:r>
          </a:p>
          <a:p>
            <a:r>
              <a:rPr lang="en-US" sz="1800" dirty="0">
                <a:latin typeface="Montserrat" pitchFamily="2" charset="0"/>
              </a:rPr>
              <a:t>Java</a:t>
            </a:r>
          </a:p>
          <a:p>
            <a:r>
              <a:rPr lang="en-US" sz="1800" dirty="0">
                <a:latin typeface="Montserrat" pitchFamily="2" charset="0"/>
              </a:rPr>
              <a:t>PHP</a:t>
            </a:r>
          </a:p>
          <a:p>
            <a:r>
              <a:rPr lang="en-US" sz="1800" dirty="0" err="1">
                <a:latin typeface="Montserrat" pitchFamily="2" charset="0"/>
              </a:rPr>
              <a:t>Javascript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 err="1">
                <a:latin typeface="Montserrat" pitchFamily="2" charset="0"/>
              </a:rPr>
              <a:t>dll</a:t>
            </a:r>
            <a:r>
              <a:rPr lang="en-US" sz="1800" dirty="0">
                <a:latin typeface="Montserrat" pitchFamily="2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0750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6355" y="889000"/>
            <a:ext cx="7759289" cy="4564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16355" y="5722373"/>
            <a:ext cx="62688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itchFamily="2" charset="0"/>
              </a:rPr>
              <a:t>Sumber</a:t>
            </a:r>
            <a:r>
              <a:rPr lang="en-US" sz="800" dirty="0">
                <a:latin typeface="Montserrat" pitchFamily="2" charset="0"/>
              </a:rPr>
              <a:t> </a:t>
            </a:r>
            <a:r>
              <a:rPr lang="en-US" sz="800" dirty="0" err="1">
                <a:latin typeface="Montserrat" pitchFamily="2" charset="0"/>
              </a:rPr>
              <a:t>Referensi</a:t>
            </a:r>
            <a:r>
              <a:rPr lang="en-US" sz="800" dirty="0">
                <a:latin typeface="Montserrat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4"/>
              </a:rPr>
              <a:t>https://www.goodcore.co.uk/blog/types-of-software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5379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Driver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368" y="1560154"/>
            <a:ext cx="10515600" cy="48504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Driver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berfungsi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sebagai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komunikasi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antara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Sistem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Operasi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Hardware</a:t>
            </a: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Contoh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r>
              <a:rPr lang="en-US" sz="1800" dirty="0">
                <a:latin typeface="Montserrat" pitchFamily="2" charset="0"/>
              </a:rPr>
              <a:t>Driver Audio</a:t>
            </a:r>
          </a:p>
          <a:p>
            <a:r>
              <a:rPr lang="en-US" sz="1800" dirty="0">
                <a:latin typeface="Montserrat" pitchFamily="2" charset="0"/>
              </a:rPr>
              <a:t>Driver Bios</a:t>
            </a:r>
          </a:p>
          <a:p>
            <a:r>
              <a:rPr lang="en-US" sz="1800" dirty="0">
                <a:latin typeface="Montserrat" pitchFamily="2" charset="0"/>
              </a:rPr>
              <a:t>Driver Chipset</a:t>
            </a:r>
          </a:p>
          <a:p>
            <a:r>
              <a:rPr lang="en-US" sz="1800" dirty="0">
                <a:latin typeface="Montserrat" pitchFamily="2" charset="0"/>
              </a:rPr>
              <a:t>Driver Graphics</a:t>
            </a:r>
          </a:p>
          <a:p>
            <a:r>
              <a:rPr lang="en-US" sz="1800" dirty="0">
                <a:latin typeface="Montserrat" pitchFamily="2" charset="0"/>
              </a:rPr>
              <a:t>Driver Keyboard</a:t>
            </a:r>
          </a:p>
          <a:p>
            <a:r>
              <a:rPr lang="en-US" sz="1800" dirty="0">
                <a:latin typeface="Montserrat" pitchFamily="2" charset="0"/>
              </a:rPr>
              <a:t>Driver Mouse</a:t>
            </a:r>
          </a:p>
          <a:p>
            <a:r>
              <a:rPr lang="en-US" sz="1800" dirty="0">
                <a:latin typeface="Montserrat" pitchFamily="2" charset="0"/>
              </a:rPr>
              <a:t>Driver Storage</a:t>
            </a:r>
          </a:p>
          <a:p>
            <a:r>
              <a:rPr lang="en-US" sz="1800" dirty="0">
                <a:latin typeface="Montserrat" pitchFamily="2" charset="0"/>
              </a:rPr>
              <a:t>Driver Network</a:t>
            </a:r>
          </a:p>
          <a:p>
            <a:r>
              <a:rPr lang="en-US" sz="1800" dirty="0" err="1">
                <a:latin typeface="Montserrat" pitchFamily="2" charset="0"/>
              </a:rPr>
              <a:t>dll</a:t>
            </a:r>
            <a:r>
              <a:rPr lang="en-US" sz="1800" dirty="0">
                <a:latin typeface="Montserrat" pitchFamily="2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B9412-B2F2-4F5A-A449-0F0D5A148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7816" y="2343082"/>
            <a:ext cx="4815816" cy="28328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225716-6D5F-4046-BEE6-BCDA1C9236EF}"/>
              </a:ext>
            </a:extLst>
          </p:cNvPr>
          <p:cNvSpPr txBox="1"/>
          <p:nvPr/>
        </p:nvSpPr>
        <p:spPr>
          <a:xfrm>
            <a:off x="6497941" y="5470107"/>
            <a:ext cx="38907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itchFamily="2" charset="0"/>
              </a:rPr>
              <a:t>Sumber</a:t>
            </a:r>
            <a:r>
              <a:rPr lang="en-US" sz="800" dirty="0">
                <a:latin typeface="Montserrat" pitchFamily="2" charset="0"/>
              </a:rPr>
              <a:t> </a:t>
            </a:r>
            <a:r>
              <a:rPr lang="en-US" sz="800" dirty="0" err="1">
                <a:latin typeface="Montserrat" pitchFamily="2" charset="0"/>
              </a:rPr>
              <a:t>Referensi</a:t>
            </a:r>
            <a:r>
              <a:rPr lang="en-US" sz="800" dirty="0">
                <a:latin typeface="Montserrat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4"/>
              </a:rPr>
              <a:t>https://www.goodcore.co.uk/blog/types-of-software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9015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uiExpan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Jenis-Jenis</a:t>
            </a:r>
            <a:r>
              <a:rPr lang="en-US" sz="3000" dirty="0">
                <a:latin typeface="Montserrat" pitchFamily="2" charset="0"/>
              </a:rPr>
              <a:t> Software </a:t>
            </a:r>
            <a:r>
              <a:rPr lang="en-US" sz="3000" dirty="0" err="1">
                <a:latin typeface="Montserrat" pitchFamily="2" charset="0"/>
              </a:rPr>
              <a:t>Berdasarkan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b="1" dirty="0" err="1">
                <a:latin typeface="Montserrat" panose="00000500000000000000" pitchFamily="2" charset="0"/>
              </a:rPr>
              <a:t>Fungsi</a:t>
            </a:r>
            <a:r>
              <a:rPr lang="en-US" sz="3000" dirty="0" err="1">
                <a:latin typeface="Montserrat" pitchFamily="2" charset="0"/>
              </a:rPr>
              <a:t>nya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latin typeface="Montserrat" pitchFamily="2" charset="0"/>
              </a:rPr>
              <a:t>Sistem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Operasi</a:t>
            </a:r>
            <a:endParaRPr lang="en-US" sz="1800" dirty="0">
              <a:latin typeface="Montserrat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latin typeface="Montserrat" pitchFamily="2" charset="0"/>
              </a:rPr>
              <a:t>Aplikasi</a:t>
            </a:r>
            <a:endParaRPr lang="en-US" sz="1800" dirty="0">
              <a:latin typeface="Montserrat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Montserrat" pitchFamily="2" charset="0"/>
              </a:rPr>
              <a:t>Bahasa </a:t>
            </a:r>
            <a:r>
              <a:rPr lang="en-US" sz="1800" dirty="0" err="1">
                <a:latin typeface="Montserrat" pitchFamily="2" charset="0"/>
              </a:rPr>
              <a:t>Pemrograman</a:t>
            </a:r>
            <a:endParaRPr lang="en-US" sz="1800" dirty="0">
              <a:latin typeface="Montserrat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Montserrat" pitchFamily="2" charset="0"/>
              </a:rPr>
              <a:t>Driver</a:t>
            </a:r>
          </a:p>
        </p:txBody>
      </p:sp>
    </p:spTree>
    <p:extLst>
      <p:ext uri="{BB962C8B-B14F-4D97-AF65-F5344CB8AC3E}">
        <p14:creationId xmlns:p14="http://schemas.microsoft.com/office/powerpoint/2010/main" val="141874814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F24B5-E78E-4860-9ADD-BB769FCDB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000" dirty="0" err="1">
                <a:latin typeface="Montserrat" panose="00000500000000000000" pitchFamily="2" charset="0"/>
              </a:rPr>
              <a:t>Jenis-Jenis</a:t>
            </a:r>
            <a:r>
              <a:rPr lang="en-US" sz="3000" dirty="0">
                <a:latin typeface="Montserrat" panose="00000500000000000000" pitchFamily="2" charset="0"/>
              </a:rPr>
              <a:t> Software </a:t>
            </a:r>
            <a:r>
              <a:rPr lang="en-US" sz="3000" dirty="0" err="1">
                <a:latin typeface="Montserrat" panose="00000500000000000000" pitchFamily="2" charset="0"/>
              </a:rPr>
              <a:t>Berdasarkan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b="1" dirty="0" err="1">
                <a:latin typeface="Montserrat" panose="00000500000000000000" pitchFamily="2" charset="0"/>
              </a:rPr>
              <a:t>Distribusi</a:t>
            </a:r>
            <a:r>
              <a:rPr lang="en-US" sz="3000" dirty="0" err="1">
                <a:latin typeface="Montserrat" panose="00000500000000000000" pitchFamily="2" charset="0"/>
              </a:rPr>
              <a:t>nya</a:t>
            </a:r>
            <a:endParaRPr lang="en-US" sz="30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5436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Perangkat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Lunak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Berbayar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Berbayar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mengharuskan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penggunanya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membayar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harga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tertentu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bisa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menggunakannya</a:t>
            </a:r>
            <a:r>
              <a:rPr lang="en-US" sz="1800" dirty="0">
                <a:latin typeface="Montserrat" pitchFamily="2" charset="0"/>
              </a:rPr>
              <a:t>. </a:t>
            </a:r>
          </a:p>
          <a:p>
            <a:r>
              <a:rPr lang="en-US" sz="1800" dirty="0" err="1">
                <a:latin typeface="Montserrat" pitchFamily="2" charset="0"/>
              </a:rPr>
              <a:t>Meskipun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sudah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dibeli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namun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pengguna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tidak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diizinkan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menyebarluaskannya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karena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hal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tersebut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termasuk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tindakan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ilegal</a:t>
            </a:r>
            <a:endParaRPr lang="en-US" sz="1800" dirty="0">
              <a:latin typeface="Montserrat" pitchFamily="2" charset="0"/>
            </a:endParaRPr>
          </a:p>
          <a:p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Contoh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pPr lvl="1"/>
            <a:r>
              <a:rPr lang="en-US" sz="1400" dirty="0">
                <a:latin typeface="Montserrat" pitchFamily="2" charset="0"/>
              </a:rPr>
              <a:t>Microsoft Windows</a:t>
            </a:r>
          </a:p>
        </p:txBody>
      </p:sp>
    </p:spTree>
    <p:extLst>
      <p:ext uri="{BB962C8B-B14F-4D97-AF65-F5344CB8AC3E}">
        <p14:creationId xmlns:p14="http://schemas.microsoft.com/office/powerpoint/2010/main" val="239159302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Open Source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latin typeface="Montserrat" pitchFamily="2" charset="0"/>
              </a:rPr>
              <a:t>Open Source Software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dapat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digunakan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secara</a:t>
            </a:r>
            <a:r>
              <a:rPr lang="en-US" sz="1800" dirty="0">
                <a:latin typeface="Montserrat" pitchFamily="2" charset="0"/>
              </a:rPr>
              <a:t> gratis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Source </a:t>
            </a:r>
            <a:r>
              <a:rPr lang="en-US" sz="1800" i="1" dirty="0" err="1">
                <a:latin typeface="Montserrat" pitchFamily="2" charset="0"/>
              </a:rPr>
              <a:t>Code</a:t>
            </a:r>
            <a:r>
              <a:rPr lang="en-US" sz="1800" dirty="0" err="1">
                <a:latin typeface="Montserrat" pitchFamily="2" charset="0"/>
              </a:rPr>
              <a:t>nya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dirty="0">
                <a:latin typeface="Montserrat" pitchFamily="2" charset="0"/>
              </a:rPr>
              <a:t>yang </a:t>
            </a:r>
            <a:r>
              <a:rPr lang="en-US" sz="1800" dirty="0" err="1">
                <a:latin typeface="Montserrat" pitchFamily="2" charset="0"/>
              </a:rPr>
              <a:t>dapat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diperiksa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dimodifikasi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ditingkatkan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oleh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siapa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saja</a:t>
            </a: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Contoh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93108756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Free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1" dirty="0">
                <a:latin typeface="Montserrat" pitchFamily="2" charset="0"/>
              </a:rPr>
              <a:t>Free Software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dapat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digunakan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secara</a:t>
            </a:r>
            <a:r>
              <a:rPr lang="en-US" sz="1800" dirty="0">
                <a:latin typeface="Montserrat" pitchFamily="2" charset="0"/>
              </a:rPr>
              <a:t> gratis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memberi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kebebasan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pengguna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berbagi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mempelajari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memodifikasinya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 err="1">
                <a:latin typeface="Montserrat" pitchFamily="2" charset="0"/>
              </a:rPr>
              <a:t>Perbedaan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Free Software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Open Source Software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vendor </a:t>
            </a:r>
            <a:r>
              <a:rPr lang="en-US" sz="1800" dirty="0" err="1">
                <a:latin typeface="Montserrat" pitchFamily="2" charset="0"/>
              </a:rPr>
              <a:t>dari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Free Software </a:t>
            </a:r>
            <a:r>
              <a:rPr lang="en-US" sz="1800" dirty="0" err="1">
                <a:latin typeface="Montserrat" pitchFamily="2" charset="0"/>
              </a:rPr>
              <a:t>dapat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meminta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penggunanya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membayar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biaya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tambahan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mengkustom</a:t>
            </a:r>
            <a:r>
              <a:rPr lang="en-US" sz="1800" dirty="0">
                <a:latin typeface="Montserrat" pitchFamily="2" charset="0"/>
              </a:rPr>
              <a:t> software</a:t>
            </a: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Contoh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Mozilla Firefox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Google Chrome</a:t>
            </a:r>
          </a:p>
        </p:txBody>
      </p:sp>
    </p:spTree>
    <p:extLst>
      <p:ext uri="{BB962C8B-B14F-4D97-AF65-F5344CB8AC3E}">
        <p14:creationId xmlns:p14="http://schemas.microsoft.com/office/powerpoint/2010/main" val="11672662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Freeware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latin typeface="Montserrat" pitchFamily="2" charset="0"/>
              </a:rPr>
              <a:t>Freeware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dapat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digunakan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secara</a:t>
            </a:r>
            <a:r>
              <a:rPr lang="en-US" sz="1800" dirty="0">
                <a:latin typeface="Montserrat" pitchFamily="2" charset="0"/>
              </a:rPr>
              <a:t> gratis </a:t>
            </a:r>
            <a:r>
              <a:rPr lang="en-US" sz="1800" dirty="0" err="1">
                <a:latin typeface="Montserrat" pitchFamily="2" charset="0"/>
              </a:rPr>
              <a:t>tetapi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Source </a:t>
            </a:r>
            <a:r>
              <a:rPr lang="en-US" sz="1800" i="1" dirty="0" err="1">
                <a:latin typeface="Montserrat" pitchFamily="2" charset="0"/>
              </a:rPr>
              <a:t>Code</a:t>
            </a:r>
            <a:r>
              <a:rPr lang="en-US" sz="1800" dirty="0" err="1">
                <a:latin typeface="Montserrat" pitchFamily="2" charset="0"/>
              </a:rPr>
              <a:t>nya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tidak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dapat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diakses</a:t>
            </a: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Contoh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pPr lvl="1"/>
            <a:r>
              <a:rPr lang="en-US" sz="1400" dirty="0" err="1">
                <a:latin typeface="Montserrat" pitchFamily="2" charset="0"/>
              </a:rPr>
              <a:t>Ccleaner</a:t>
            </a:r>
            <a:endParaRPr lang="en-US" sz="1400" dirty="0">
              <a:latin typeface="Montserrat" pitchFamily="2" charset="0"/>
            </a:endParaRPr>
          </a:p>
          <a:p>
            <a:pPr lvl="1"/>
            <a:r>
              <a:rPr lang="en-US" sz="1400" dirty="0">
                <a:latin typeface="Montserrat" pitchFamily="2" charset="0"/>
              </a:rPr>
              <a:t>AVG</a:t>
            </a:r>
          </a:p>
        </p:txBody>
      </p:sp>
    </p:spTree>
    <p:extLst>
      <p:ext uri="{BB962C8B-B14F-4D97-AF65-F5344CB8AC3E}">
        <p14:creationId xmlns:p14="http://schemas.microsoft.com/office/powerpoint/2010/main" val="27328650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Shareware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Montserrat" pitchFamily="2" charset="0"/>
              </a:rPr>
              <a:t>Shareware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dapat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digunakan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secara</a:t>
            </a:r>
            <a:r>
              <a:rPr lang="en-US" sz="1800" dirty="0">
                <a:latin typeface="Montserrat" pitchFamily="2" charset="0"/>
              </a:rPr>
              <a:t> gratis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jangka</a:t>
            </a:r>
            <a:r>
              <a:rPr lang="en-US" sz="1800" u="sng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waktu</a:t>
            </a:r>
            <a:r>
              <a:rPr lang="en-US" sz="1800" u="sng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tertentu</a:t>
            </a:r>
            <a:r>
              <a:rPr lang="en-US" sz="1800" dirty="0">
                <a:latin typeface="Montserrat" pitchFamily="2" charset="0"/>
              </a:rPr>
              <a:t> (trial/</a:t>
            </a:r>
            <a:r>
              <a:rPr lang="en-US" sz="1800" dirty="0" err="1">
                <a:latin typeface="Montserrat" pitchFamily="2" charset="0"/>
              </a:rPr>
              <a:t>percobaan</a:t>
            </a:r>
            <a:r>
              <a:rPr lang="en-US" sz="1800">
                <a:latin typeface="Montserrat" pitchFamily="2" charset="0"/>
              </a:rPr>
              <a:t>)</a:t>
            </a:r>
            <a:endParaRPr lang="en-US" sz="1800" u="sng" dirty="0">
              <a:latin typeface="Montserrat" pitchFamily="2" charset="0"/>
            </a:endParaRPr>
          </a:p>
          <a:p>
            <a:r>
              <a:rPr lang="en-US" sz="1800" dirty="0" err="1">
                <a:latin typeface="Montserrat" pitchFamily="2" charset="0"/>
              </a:rPr>
              <a:t>Jika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batas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waktu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habis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maka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kita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harus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membeli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lisensinya</a:t>
            </a: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	</a:t>
            </a: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Contoh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pPr lvl="1"/>
            <a:r>
              <a:rPr lang="en-US" sz="1400" dirty="0">
                <a:latin typeface="Montserrat" pitchFamily="2" charset="0"/>
              </a:rPr>
              <a:t>Adobe Photoshop</a:t>
            </a:r>
          </a:p>
          <a:p>
            <a:pPr lvl="1"/>
            <a:r>
              <a:rPr lang="en-US" sz="1400" dirty="0">
                <a:latin typeface="Montserrat" pitchFamily="2" charset="0"/>
              </a:rPr>
              <a:t>Corel Draw</a:t>
            </a:r>
          </a:p>
        </p:txBody>
      </p:sp>
    </p:spTree>
    <p:extLst>
      <p:ext uri="{BB962C8B-B14F-4D97-AF65-F5344CB8AC3E}">
        <p14:creationId xmlns:p14="http://schemas.microsoft.com/office/powerpoint/2010/main" val="351745982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Malware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dibuat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tujuan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merusak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sistem</a:t>
            </a: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Contoh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pPr lvl="1"/>
            <a:r>
              <a:rPr lang="en-US" sz="1400" dirty="0">
                <a:latin typeface="Montserrat" pitchFamily="2" charset="0"/>
              </a:rPr>
              <a:t>Virus </a:t>
            </a:r>
            <a:r>
              <a:rPr lang="en-US" sz="1400" dirty="0" err="1">
                <a:latin typeface="Montserrat" pitchFamily="2" charset="0"/>
              </a:rPr>
              <a:t>Komputer</a:t>
            </a:r>
            <a:endParaRPr lang="en-US" sz="1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8752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Firmware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Montserrat" pitchFamily="2" charset="0"/>
              </a:rPr>
              <a:t>Firmware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terpasang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keras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>
                <a:latin typeface="Montserrat" pitchFamily="2" charset="0"/>
              </a:rPr>
              <a:t>Firmware </a:t>
            </a:r>
            <a:r>
              <a:rPr lang="en-US" sz="1800" dirty="0" err="1">
                <a:latin typeface="Montserrat" pitchFamily="2" charset="0"/>
              </a:rPr>
              <a:t>kadang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disebut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sebagai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satu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bagian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dari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sistem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selain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Hardware, Software,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 err="1">
                <a:latin typeface="Montserrat" pitchFamily="2" charset="0"/>
              </a:rPr>
              <a:t>Brainware</a:t>
            </a:r>
            <a:endParaRPr lang="en-US" sz="1800" i="1" dirty="0">
              <a:latin typeface="Montserrat" pitchFamily="2" charset="0"/>
            </a:endParaRPr>
          </a:p>
          <a:p>
            <a:endParaRPr lang="en-US" sz="1800" i="1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Contoh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pPr lvl="1"/>
            <a:r>
              <a:rPr lang="en-US" sz="1800" dirty="0">
                <a:latin typeface="Montserrat" pitchFamily="2" charset="0"/>
              </a:rPr>
              <a:t>BIOS (Basic </a:t>
            </a:r>
            <a:r>
              <a:rPr lang="en-US" sz="1800" dirty="0" err="1">
                <a:latin typeface="Montserrat" pitchFamily="2" charset="0"/>
              </a:rPr>
              <a:t>Input/Output</a:t>
            </a:r>
            <a:r>
              <a:rPr lang="en-US" sz="1800" dirty="0">
                <a:latin typeface="Montserrat" pitchFamily="2" charset="0"/>
              </a:rPr>
              <a:t> System)</a:t>
            </a:r>
          </a:p>
        </p:txBody>
      </p:sp>
    </p:spTree>
    <p:extLst>
      <p:ext uri="{BB962C8B-B14F-4D97-AF65-F5344CB8AC3E}">
        <p14:creationId xmlns:p14="http://schemas.microsoft.com/office/powerpoint/2010/main" val="30755428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6971"/>
            <a:ext cx="10515600" cy="736088"/>
          </a:xfrm>
        </p:spPr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Jenis-Jenis</a:t>
            </a:r>
            <a:r>
              <a:rPr lang="en-US" sz="3000" dirty="0">
                <a:latin typeface="Montserrat" pitchFamily="2" charset="0"/>
              </a:rPr>
              <a:t> Software </a:t>
            </a:r>
            <a:r>
              <a:rPr lang="en-US" sz="3000" dirty="0" err="1">
                <a:latin typeface="Montserrat" pitchFamily="2" charset="0"/>
              </a:rPr>
              <a:t>Berdasarkan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b="1" dirty="0" err="1">
                <a:latin typeface="Montserrat" panose="00000500000000000000" pitchFamily="2" charset="0"/>
              </a:rPr>
              <a:t>Distribusi</a:t>
            </a:r>
            <a:r>
              <a:rPr lang="en-US" sz="3000" dirty="0" err="1">
                <a:latin typeface="Montserrat" pitchFamily="2" charset="0"/>
              </a:rPr>
              <a:t>nya</a:t>
            </a:r>
            <a:endParaRPr lang="en-US" sz="3000" dirty="0">
              <a:latin typeface="Montserrat" panose="00000500000000000000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284447"/>
              </p:ext>
            </p:extLst>
          </p:nvPr>
        </p:nvGraphicFramePr>
        <p:xfrm>
          <a:off x="911123" y="985137"/>
          <a:ext cx="10651613" cy="553761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4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0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3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68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tserrat" pitchFamily="2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Montserrat" pitchFamily="2" charset="0"/>
                        </a:rPr>
                        <a:t>Jenis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Software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Montserrat" pitchFamily="2" charset="0"/>
                        </a:rPr>
                        <a:t>Penggunaan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Biasa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Montserrat" pitchFamily="2" charset="0"/>
                        </a:rPr>
                        <a:t>Kode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Sumber</a:t>
                      </a:r>
                      <a:r>
                        <a:rPr lang="en-US" dirty="0">
                          <a:latin typeface="Montserrat" pitchFamily="2" charset="0"/>
                        </a:rPr>
                        <a:t> (Source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Code)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Software </a:t>
                      </a:r>
                      <a:r>
                        <a:rPr lang="en-US" sz="1800" dirty="0" err="1">
                          <a:latin typeface="Montserrat" pitchFamily="2" charset="0"/>
                        </a:rPr>
                        <a:t>Berbayar</a:t>
                      </a:r>
                      <a:endParaRPr lang="en-US" sz="180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Berbayar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Tidak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Dapat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Diakses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Open Source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Gratis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Bisa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Diakses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(full)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Free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Gratis (</a:t>
                      </a:r>
                      <a:r>
                        <a:rPr lang="en-US" dirty="0" err="1">
                          <a:latin typeface="Montserrat" pitchFamily="2" charset="0"/>
                        </a:rPr>
                        <a:t>tidak</a:t>
                      </a:r>
                      <a:r>
                        <a:rPr lang="en-US" dirty="0">
                          <a:latin typeface="Montserrat" pitchFamily="2" charset="0"/>
                        </a:rPr>
                        <a:t> full)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Bisa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Diakses</a:t>
                      </a:r>
                      <a:r>
                        <a:rPr lang="en-US" dirty="0">
                          <a:latin typeface="Montserrat" pitchFamily="2" charset="0"/>
                        </a:rPr>
                        <a:t> (</a:t>
                      </a:r>
                      <a:r>
                        <a:rPr lang="en-US" dirty="0" err="1">
                          <a:latin typeface="Montserrat" pitchFamily="2" charset="0"/>
                        </a:rPr>
                        <a:t>tidak</a:t>
                      </a:r>
                      <a:r>
                        <a:rPr lang="en-US" dirty="0">
                          <a:latin typeface="Montserrat" pitchFamily="2" charset="0"/>
                        </a:rPr>
                        <a:t> full)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Freeware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Gratis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>
                          <a:latin typeface="Montserrat" pitchFamily="2" charset="0"/>
                        </a:rPr>
                        <a:t>Tidak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Dapat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Diakses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083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Shareware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Gratis </a:t>
                      </a:r>
                      <a:r>
                        <a:rPr lang="en-US" dirty="0" err="1">
                          <a:latin typeface="Montserrat" pitchFamily="2" charset="0"/>
                        </a:rPr>
                        <a:t>dalam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jangka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waktu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tertentu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.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Misal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7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hari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Montserrat" pitchFamily="2" charset="0"/>
                        </a:rPr>
                        <a:t>Tidak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Dapat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Diakses</a:t>
                      </a:r>
                      <a:endParaRPr lang="en-US" dirty="0">
                        <a:latin typeface="Montserrat" pitchFamily="2" charset="0"/>
                      </a:endParaRPr>
                    </a:p>
                    <a:p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Malware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Siapa</a:t>
                      </a:r>
                      <a:r>
                        <a:rPr lang="en-US" dirty="0">
                          <a:latin typeface="Montserrat" pitchFamily="2" charset="0"/>
                        </a:rPr>
                        <a:t> yang </a:t>
                      </a:r>
                      <a:r>
                        <a:rPr lang="en-US" dirty="0" err="1">
                          <a:latin typeface="Montserrat" pitchFamily="2" charset="0"/>
                        </a:rPr>
                        <a:t>mau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ini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dipasang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ke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komputernya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dengan</a:t>
                      </a:r>
                      <a:r>
                        <a:rPr lang="en-US" dirty="0">
                          <a:latin typeface="Montserrat" pitchFamily="2" charset="0"/>
                        </a:rPr>
                        <a:t> gratis? </a:t>
                      </a:r>
                      <a:r>
                        <a:rPr lang="en-US" dirty="0">
                          <a:latin typeface="Montserrat" pitchFamily="2" charset="0"/>
                          <a:sym typeface="Wingdings" pitchFamily="2" charset="2"/>
                        </a:rPr>
                        <a:t>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Kalau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ini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dikasih</a:t>
                      </a:r>
                      <a:r>
                        <a:rPr lang="en-US" dirty="0">
                          <a:latin typeface="Montserrat" pitchFamily="2" charset="0"/>
                        </a:rPr>
                        <a:t> gratis,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lumayan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buat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ngerjain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orang :v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Firmware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Berbayar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.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Namun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,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biasanya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sudah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built-in (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bawaan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).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Misalnya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BIOS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bawaan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 Motherboard 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Montserrat" pitchFamily="2" charset="0"/>
                        </a:rPr>
                        <a:t>Tidak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Dapat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Diakses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17701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2431</TotalTime>
  <Words>632</Words>
  <Application>Microsoft Office PowerPoint</Application>
  <PresentationFormat>Widescreen</PresentationFormat>
  <Paragraphs>160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Sistem Operasi</vt:lpstr>
      <vt:lpstr>PowerPoint Presentation</vt:lpstr>
      <vt:lpstr>Aplikasi</vt:lpstr>
      <vt:lpstr>Bahasa Pemrograman</vt:lpstr>
      <vt:lpstr>PowerPoint Presentation</vt:lpstr>
      <vt:lpstr>Driver</vt:lpstr>
      <vt:lpstr>Jenis-Jenis Software Berdasarkan Fungsinya</vt:lpstr>
      <vt:lpstr>PowerPoint Presentation</vt:lpstr>
      <vt:lpstr>Perangkat Lunak Berbayar</vt:lpstr>
      <vt:lpstr>Open Source Software</vt:lpstr>
      <vt:lpstr>Free Software</vt:lpstr>
      <vt:lpstr>Freeware</vt:lpstr>
      <vt:lpstr>Shareware</vt:lpstr>
      <vt:lpstr>Malware</vt:lpstr>
      <vt:lpstr>Firmware</vt:lpstr>
      <vt:lpstr>Jenis-Jenis Software Berdasarkan Distribusinya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ekyzupaldry@gmail.com</cp:lastModifiedBy>
  <cp:revision>1280</cp:revision>
  <dcterms:created xsi:type="dcterms:W3CDTF">2021-04-24T02:20:04Z</dcterms:created>
  <dcterms:modified xsi:type="dcterms:W3CDTF">2023-08-26T17:40:47Z</dcterms:modified>
</cp:coreProperties>
</file>