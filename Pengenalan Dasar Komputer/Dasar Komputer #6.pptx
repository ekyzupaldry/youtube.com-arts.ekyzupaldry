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1" r:id="rId2"/>
    <p:sldId id="274" r:id="rId3"/>
    <p:sldId id="281" r:id="rId4"/>
    <p:sldId id="282" r:id="rId5"/>
    <p:sldId id="283" r:id="rId6"/>
    <p:sldId id="285" r:id="rId7"/>
    <p:sldId id="284" r:id="rId8"/>
    <p:sldId id="286" r:id="rId9"/>
    <p:sldId id="287" r:id="rId10"/>
    <p:sldId id="288" r:id="rId11"/>
    <p:sldId id="277" r:id="rId12"/>
    <p:sldId id="289" r:id="rId13"/>
    <p:sldId id="29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FFF"/>
    <a:srgbClr val="6B4809"/>
    <a:srgbClr val="FF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6499" autoAdjust="0"/>
  </p:normalViewPr>
  <p:slideViewPr>
    <p:cSldViewPr snapToGrid="0">
      <p:cViewPr varScale="1">
        <p:scale>
          <a:sx n="60" d="100"/>
          <a:sy n="60" d="100"/>
        </p:scale>
        <p:origin x="85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372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2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125E2-BA86-42E6-B646-607113BC3EE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143C-AAF8-42C1-BB04-F031C01A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du.gcfglobal.org/en/tr_id-computer-basics/tomboltombol-dan-portport-pada-komputer/1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review.bukalapak.com/gadget/tipe-usb-yang-perlu-kamu-ketahui-104239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3"/>
              </a:rPr>
              <a:t>https://www.pintarkomputer.com/macam-macam-tipe-kabel-pada-komputer-pc-yang-harus-kamu-ketahui</a:t>
            </a: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/>
                <a:hlinkClick r:id="rId4"/>
              </a:rPr>
              <a:t>https://review.bukalapak.com/gadget/tipe-usb-yang-perlu-kamu-ketahui-104239</a:t>
            </a:r>
            <a:endParaRPr lang="en-US" sz="1200" dirty="0">
              <a:latin typeface="Montserrat" panose="0000050000000000000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3"/>
              </a:rPr>
              <a:t>https://www.atmojoe.com/2020/09/jenis-kabel-penghubung-pada-power.html</a:t>
            </a: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3"/>
              </a:rPr>
              <a:t>https://bilabil.com/macam-macam-port</a:t>
            </a: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3"/>
              </a:rPr>
              <a:t>https://computer.indo-solution.com/jenis-jenis-port-dan-kegunaannya</a:t>
            </a: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3"/>
              </a:rPr>
              <a:t>https://www.4muda.com/mengenal-12-jenis-port-pada-komputer-beserta-kegunaannya</a:t>
            </a: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3"/>
              </a:rPr>
              <a:t>https://edu.gcfglobal.org/en/tr_id-computer-basics/tomboltombol-dan-portport-pada-komputer</a:t>
            </a:r>
            <a:r>
              <a:rPr lang="en-US" sz="1200">
                <a:latin typeface="Montserrat" pitchFamily="2" charset="0"/>
                <a:hlinkClick r:id="rId3"/>
              </a:rPr>
              <a:t>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31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2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2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2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2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2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48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2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anose="0000050000000000000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89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54A-B5E4-46BE-96D3-19229C8A8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AC46C-E13F-445C-B714-5281DA3C1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C094-9635-4D67-9BDD-8E6EEB74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8AA9-234E-40FF-BE62-1F9432D7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1E945-E56F-4AC8-8B74-DBBB9C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022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A93-5FE2-44C6-8700-40CACAD1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E75A-D26A-4BB9-B0E9-21C9C3AE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70ED-CED3-488A-830D-029CA478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2784-787E-4077-9271-F5811399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7317-B926-4584-9234-F9352A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224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2CFD-81C8-4476-ABB7-DE210520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F3D6-5EC6-4330-8475-3C1F844C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8A27-3B28-499C-8A45-1CB9CAE0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806D-12F8-40B1-805C-5C8F83D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21AF-27C6-44D5-B5F3-DC13CF7A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7604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CBF6-A118-4423-ADC6-4609B40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451D-C080-4228-B10A-E6AD68CE5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F8468-1EBC-4E2A-936F-83F5195D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FED6-F766-4C0C-9EC2-8E17ED23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A370-262E-4CF6-9A07-E288E5FC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1239-9AB6-4AAB-ABC8-1B8B61ED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825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771C-7E2C-49A2-99F7-FBEB64D6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5D2-8AE3-4651-93E3-457286A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C1F8-E035-41E9-94E0-C73A9B66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747B9-8C2B-4DB3-BFF4-05F88B103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90F90-2218-45E2-8CE8-510DE1ED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434CC-5F5E-4FF7-97E1-373D8BFF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274D1-43F6-4CB7-A2E9-D1637BEE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B6571-058D-4B02-BEB5-AAB96537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7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C779-BE38-44D5-9959-5B164292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9A-8352-4960-95EA-0F597F09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6C4C9-761E-4758-96BD-F884925E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51A1E-8F82-44AE-AED5-9128EA1A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114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A2D92-CADF-440C-947E-F3DE90F5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876D0-BE27-46C4-BAEA-AEF6EEB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0022-C951-41B8-9D28-ECD9494B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876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9BA4-8620-4880-AB6A-EB6127B6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7F07-9106-417E-BA0D-8CB84E6B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13716-33BB-485E-A5FB-1D324D960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723C9-3A6E-408B-B5D6-2B79C2C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768F-8468-4633-ACEA-F0DC8A9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EBC8B-164C-4019-87F1-B3F224C1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082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F3D-F170-4B3C-A70E-1D96B603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7D2CC-E188-4B2C-BCC0-AC21AECF2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297DF-7B91-4747-8875-044E50A5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DA27-711D-483E-8C51-67A75BA7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738CC-1B2E-483C-80F9-C3D122B0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2453D-074C-48B0-9EBC-E61DB955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690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FBD8-CBF7-42CE-8D6F-58AA0B16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CA9BA-2A02-4CEA-9E91-0D7792C32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ACA1-0010-4694-A6F6-DF0DEDA1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0B7B9-242D-4397-B640-8F9D6F54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E115-D43A-400A-8808-28CDEF08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2177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C3801-B72C-43F9-B28E-C710221B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F5AE-D439-421B-AAC9-1252BC214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4011-C163-4EAA-9104-4197C9EB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5E12-BA61-421A-92BC-9400287C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A5FD-FF72-411C-8DC9-289ACCB7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2D3B-4714-4844-89EF-A49F26DA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5EB5-3248-414E-932F-5CDFB1F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E50-A3EA-4DC8-870D-C5DE79B6D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7345-AF83-4CE9-BC67-587913DCB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4082-3287-407B-8653-5A0B6D92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3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arkomputer.com/macam-macam-tipe-kabel-pada-komputer-pc-yang-harus-kamu-ketahui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view.bukalapak.com/gadget/tipe-usb-yang-perlu-kamu-ketahui-104239" TargetMode="External"/><Relationship Id="rId4" Type="http://schemas.openxmlformats.org/officeDocument/2006/relationships/hyperlink" Target="https://www.pintarkomputer.com/macam-macam-tipe-kabel-pada-komputer-pc-yang-harus-kamu-ketahui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hyperlink" Target="https://www.pintarkomputer.com/macam-macam-tipe-kabel-pada-komputer-pc-yang-harus-kamu-ketahui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intarkomputer.com/macam-macam-tipe-kabel-pada-komputer-pc-yang-harus-kamu-ketahui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du.gcfglobal.org/en/tr_id-computer-basics/tomboltombol-dan-portport-pada-komputer/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intarkomputer.com/macam-macam-tipe-kabel-pada-komputer-pc-yang-harus-kamu-ketahui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05796-321A-4803-85AD-F5DBEF60D8F3}"/>
              </a:ext>
            </a:extLst>
          </p:cNvPr>
          <p:cNvSpPr/>
          <p:nvPr/>
        </p:nvSpPr>
        <p:spPr>
          <a:xfrm>
            <a:off x="789494" y="2697480"/>
            <a:ext cx="10613010" cy="731520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PENGENALAN DASAR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19E30-7F70-44CF-95F9-C831B81812F8}"/>
              </a:ext>
            </a:extLst>
          </p:cNvPr>
          <p:cNvSpPr/>
          <p:nvPr/>
        </p:nvSpPr>
        <p:spPr>
          <a:xfrm>
            <a:off x="2551518" y="3429000"/>
            <a:ext cx="7088961" cy="616889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#6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Kabel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, Port,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dan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Tombol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Pada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493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Kabel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Media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mentransmisikan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sinyal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arus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maupun</a:t>
            </a:r>
            <a:r>
              <a:rPr lang="en-US" sz="1800" dirty="0">
                <a:latin typeface="Montserrat" pitchFamily="2" charset="0"/>
              </a:rPr>
              <a:t> data </a:t>
            </a:r>
            <a:r>
              <a:rPr lang="en-US" sz="1800" dirty="0" err="1">
                <a:latin typeface="Montserrat" pitchFamily="2" charset="0"/>
              </a:rPr>
              <a:t>dari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satu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lain</a:t>
            </a:r>
          </a:p>
        </p:txBody>
      </p:sp>
    </p:spTree>
    <p:extLst>
      <p:ext uri="{BB962C8B-B14F-4D97-AF65-F5344CB8AC3E}">
        <p14:creationId xmlns:p14="http://schemas.microsoft.com/office/powerpoint/2010/main" val="8752755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Kabel</a:t>
            </a:r>
            <a:r>
              <a:rPr lang="en-US" sz="3000" dirty="0">
                <a:latin typeface="Montserrat" pitchFamily="2" charset="0"/>
              </a:rPr>
              <a:t> VGA (Video Graphic Array)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01" y="1761436"/>
            <a:ext cx="2647990" cy="3393100"/>
          </a:xfrm>
          <a:ln w="38100"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08955" y="1761436"/>
            <a:ext cx="552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Mentransmisikan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sinyal</a:t>
            </a:r>
            <a:r>
              <a:rPr lang="en-US" dirty="0">
                <a:latin typeface="Montserrat" pitchFamily="2" charset="0"/>
              </a:rPr>
              <a:t> digital/data </a:t>
            </a:r>
            <a:r>
              <a:rPr lang="en-US" dirty="0" err="1">
                <a:latin typeface="Montserrat" pitchFamily="2" charset="0"/>
              </a:rPr>
              <a:t>grafis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dari</a:t>
            </a:r>
            <a:r>
              <a:rPr lang="en-US" dirty="0">
                <a:latin typeface="Montserrat" pitchFamily="2" charset="0"/>
              </a:rPr>
              <a:t> VGA Card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monitor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123" y="1761437"/>
            <a:ext cx="2821858" cy="3393100"/>
          </a:xfrm>
          <a:prstGeom prst="rect">
            <a:avLst/>
          </a:prstGeom>
          <a:ln w="3810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2320649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Kabel</a:t>
            </a:r>
            <a:r>
              <a:rPr lang="en-US" sz="3000" dirty="0">
                <a:latin typeface="Montserrat" pitchFamily="2" charset="0"/>
              </a:rPr>
              <a:t> Power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1"/>
          <a:stretch/>
        </p:blipFill>
        <p:spPr>
          <a:xfrm rot="16200000">
            <a:off x="422815" y="2999203"/>
            <a:ext cx="3643402" cy="2644874"/>
          </a:xfrm>
          <a:ln w="38100"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80055" y="1544034"/>
            <a:ext cx="10259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Mentransmisikan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arus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listrik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dari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sumber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daya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listrik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Power Supply, Monitor </a:t>
            </a:r>
            <a:r>
              <a:rPr lang="en-US" dirty="0" err="1">
                <a:latin typeface="Montserrat" pitchFamily="2" charset="0"/>
              </a:rPr>
              <a:t>atau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perangkat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lainnya</a:t>
            </a:r>
            <a:endParaRPr lang="en-US" dirty="0">
              <a:latin typeface="Montserrat" pitchFamily="2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08"/>
          <a:stretch/>
        </p:blipFill>
        <p:spPr>
          <a:xfrm rot="5400000">
            <a:off x="3044190" y="3022706"/>
            <a:ext cx="3643394" cy="2597875"/>
          </a:xfrm>
          <a:prstGeom prst="rect">
            <a:avLst/>
          </a:prstGeom>
          <a:ln w="38100">
            <a:solidFill>
              <a:schemeClr val="bg1">
                <a:lumMod val="85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341152" y="2981738"/>
            <a:ext cx="3643401" cy="2679820"/>
          </a:xfrm>
          <a:prstGeom prst="rect">
            <a:avLst/>
          </a:prstGeom>
          <a:ln w="38100"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204" y="2499946"/>
            <a:ext cx="2650331" cy="3643403"/>
          </a:xfrm>
          <a:prstGeom prst="rect">
            <a:avLst/>
          </a:prstGeom>
          <a:ln w="3810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3141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Kabel</a:t>
            </a:r>
            <a:r>
              <a:rPr lang="en-US" sz="3000" dirty="0">
                <a:latin typeface="Montserrat" pitchFamily="2" charset="0"/>
              </a:rPr>
              <a:t> HDMI (High Definition Multimedia Interface)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13" y="1761436"/>
            <a:ext cx="4457125" cy="3342842"/>
          </a:xfrm>
        </p:spPr>
      </p:pic>
      <p:sp>
        <p:nvSpPr>
          <p:cNvPr id="5" name="TextBox 4"/>
          <p:cNvSpPr txBox="1"/>
          <p:nvPr/>
        </p:nvSpPr>
        <p:spPr>
          <a:xfrm>
            <a:off x="6243484" y="1761436"/>
            <a:ext cx="552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Mentransmisikan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sinyal</a:t>
            </a:r>
            <a:r>
              <a:rPr lang="en-US" dirty="0">
                <a:latin typeface="Montserrat" pitchFamily="2" charset="0"/>
              </a:rPr>
              <a:t> audio </a:t>
            </a:r>
            <a:r>
              <a:rPr lang="en-US" dirty="0" err="1">
                <a:latin typeface="Montserrat" pitchFamily="2" charset="0"/>
              </a:rPr>
              <a:t>dan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grafis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b="1" dirty="0" err="1">
                <a:latin typeface="Montserrat" pitchFamily="2" charset="0"/>
              </a:rPr>
              <a:t>berkualitas</a:t>
            </a:r>
            <a:r>
              <a:rPr lang="en-US" b="1" dirty="0">
                <a:latin typeface="Montserrat" pitchFamily="2" charset="0"/>
              </a:rPr>
              <a:t> </a:t>
            </a:r>
            <a:r>
              <a:rPr lang="en-US" b="1" dirty="0" err="1">
                <a:latin typeface="Montserrat" pitchFamily="2" charset="0"/>
              </a:rPr>
              <a:t>tinggi</a:t>
            </a:r>
            <a:endParaRPr lang="en-US" b="1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7923" y="5252860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https://www.pintarkomputer.com/macam-macam-tipe-kabel-pada-komputer-pc-yang-harus-kamu-ketahui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46832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000" dirty="0" err="1">
                <a:latin typeface="Montserrat" pitchFamily="2" charset="0"/>
              </a:rPr>
              <a:t>Kabel</a:t>
            </a:r>
            <a:r>
              <a:rPr lang="en-US" sz="3000" dirty="0">
                <a:latin typeface="Montserrat" pitchFamily="2" charset="0"/>
              </a:rPr>
              <a:t> USB (Universal Serial Bus)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16" y="1604120"/>
            <a:ext cx="4368635" cy="2696815"/>
          </a:xfrm>
        </p:spPr>
      </p:pic>
      <p:sp>
        <p:nvSpPr>
          <p:cNvPr id="5" name="TextBox 4"/>
          <p:cNvSpPr txBox="1"/>
          <p:nvPr/>
        </p:nvSpPr>
        <p:spPr>
          <a:xfrm>
            <a:off x="5971140" y="1604120"/>
            <a:ext cx="552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Mentransmisikan</a:t>
            </a:r>
            <a:r>
              <a:rPr lang="en-US" dirty="0">
                <a:latin typeface="Montserrat" pitchFamily="2" charset="0"/>
              </a:rPr>
              <a:t> data </a:t>
            </a:r>
            <a:r>
              <a:rPr lang="en-US" dirty="0" err="1">
                <a:latin typeface="Montserrat" pitchFamily="2" charset="0"/>
              </a:rPr>
              <a:t>dari</a:t>
            </a:r>
            <a:r>
              <a:rPr lang="en-US" dirty="0">
                <a:latin typeface="Montserrat" pitchFamily="2" charset="0"/>
              </a:rPr>
              <a:t> Motherboard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perangkat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lain </a:t>
            </a:r>
            <a:r>
              <a:rPr lang="en-US" dirty="0" err="1">
                <a:latin typeface="Montserrat" pitchFamily="2" charset="0"/>
              </a:rPr>
              <a:t>atau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sebaliknya</a:t>
            </a:r>
            <a:endParaRPr lang="en-US" b="1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22556" y="5882124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4"/>
              </a:rPr>
              <a:t>https://www.pintarkomputer.com/macam-macam-tipe-kabel-pada-komputer-pc-yang-harus-kamu-ketahui</a:t>
            </a:r>
            <a:endParaRPr lang="en-US" sz="800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BFFAE-78E9-47FF-9AE2-EA6C630A7B3D}"/>
              </a:ext>
            </a:extLst>
          </p:cNvPr>
          <p:cNvSpPr txBox="1"/>
          <p:nvPr/>
        </p:nvSpPr>
        <p:spPr>
          <a:xfrm>
            <a:off x="880991" y="4444667"/>
            <a:ext cx="1050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Montserrat" panose="00000500000000000000"/>
              </a:rPr>
              <a:t>Lihat</a:t>
            </a:r>
            <a:r>
              <a:rPr lang="en-US" sz="1400" dirty="0">
                <a:latin typeface="Montserrat" panose="00000500000000000000"/>
              </a:rPr>
              <a:t> </a:t>
            </a:r>
            <a:r>
              <a:rPr lang="en-US" sz="1400" dirty="0" err="1">
                <a:latin typeface="Montserrat" panose="00000500000000000000"/>
              </a:rPr>
              <a:t>Selengkapnya</a:t>
            </a:r>
            <a:r>
              <a:rPr lang="en-US" sz="1400" dirty="0">
                <a:latin typeface="Montserrat" panose="00000500000000000000"/>
              </a:rPr>
              <a:t> : </a:t>
            </a:r>
            <a:r>
              <a:rPr lang="en-US" sz="1400" dirty="0">
                <a:latin typeface="Montserrat" panose="00000500000000000000"/>
                <a:hlinkClick r:id="rId5"/>
              </a:rPr>
              <a:t>https://review.bukalapak.com/gadget/tipe-usb-yang-perlu-kamu-ketahui-104239</a:t>
            </a:r>
            <a:endParaRPr lang="en-US" sz="1400" dirty="0">
              <a:latin typeface="Montserrat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08340677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783" y="2036898"/>
            <a:ext cx="2443743" cy="1954995"/>
          </a:xfrm>
        </p:spPr>
      </p:pic>
      <p:sp>
        <p:nvSpPr>
          <p:cNvPr id="5" name="TextBox 4"/>
          <p:cNvSpPr txBox="1"/>
          <p:nvPr/>
        </p:nvSpPr>
        <p:spPr>
          <a:xfrm>
            <a:off x="3149744" y="4357546"/>
            <a:ext cx="5525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Mentransmisikan</a:t>
            </a:r>
            <a:r>
              <a:rPr lang="en-US" dirty="0">
                <a:latin typeface="Montserrat" pitchFamily="2" charset="0"/>
              </a:rPr>
              <a:t> data </a:t>
            </a:r>
            <a:r>
              <a:rPr lang="en-US" dirty="0" err="1">
                <a:latin typeface="Montserrat" pitchFamily="2" charset="0"/>
              </a:rPr>
              <a:t>dari</a:t>
            </a:r>
            <a:r>
              <a:rPr lang="en-US" dirty="0">
                <a:latin typeface="Montserrat" pitchFamily="2" charset="0"/>
              </a:rPr>
              <a:t> Hard Disk Drive (HDD) </a:t>
            </a:r>
            <a:r>
              <a:rPr lang="en-US" dirty="0" err="1">
                <a:latin typeface="Montserrat" pitchFamily="2" charset="0"/>
              </a:rPr>
              <a:t>atau</a:t>
            </a:r>
            <a:r>
              <a:rPr lang="en-US" dirty="0">
                <a:latin typeface="Montserrat" pitchFamily="2" charset="0"/>
              </a:rPr>
              <a:t> Optical Drive (DVD)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Motherboard</a:t>
            </a:r>
            <a:endParaRPr lang="en-US" b="1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22556" y="5882124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4"/>
              </a:rPr>
              <a:t>https://www.pintarkomputer.com/macam-macam-tipe-kabel-pada-komputer-pc-yang-harus-kamu-ketahui</a:t>
            </a:r>
            <a:endParaRPr lang="en-US" sz="800" dirty="0">
              <a:latin typeface="Montserrat" panose="000005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5911" y="1426542"/>
            <a:ext cx="3323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" pitchFamily="2" charset="0"/>
              </a:rPr>
              <a:t>IDE (Integrated Drive Electronics)</a:t>
            </a:r>
            <a:endParaRPr lang="en-US" sz="1400" b="1" dirty="0"/>
          </a:p>
        </p:txBody>
      </p:sp>
      <p:pic>
        <p:nvPicPr>
          <p:cNvPr id="16" name="Content Placeholder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511" y="2075831"/>
            <a:ext cx="2858196" cy="18771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86865" y="1426542"/>
            <a:ext cx="3323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sz="1400" b="1" dirty="0">
                <a:latin typeface="Montserrat" pitchFamily="2" charset="0"/>
              </a:rPr>
              <a:t>SATA (Serial Advanced Technology Attachment)</a:t>
            </a:r>
          </a:p>
        </p:txBody>
      </p:sp>
      <p:pic>
        <p:nvPicPr>
          <p:cNvPr id="18" name="Content Placeholder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235" y="2036897"/>
            <a:ext cx="2681949" cy="19549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44466" y="1426541"/>
            <a:ext cx="3323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sz="1400" b="1" dirty="0" err="1">
                <a:latin typeface="Montserrat" pitchFamily="2" charset="0"/>
              </a:rPr>
              <a:t>eSATA</a:t>
            </a:r>
            <a:r>
              <a:rPr lang="en-US" sz="1400" b="1" dirty="0">
                <a:latin typeface="Montserrat" pitchFamily="2" charset="0"/>
              </a:rPr>
              <a:t> (External SATA)</a:t>
            </a:r>
          </a:p>
        </p:txBody>
      </p:sp>
    </p:spTree>
    <p:extLst>
      <p:ext uri="{BB962C8B-B14F-4D97-AF65-F5344CB8AC3E}">
        <p14:creationId xmlns:p14="http://schemas.microsoft.com/office/powerpoint/2010/main" val="243442668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7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000" dirty="0" err="1">
                <a:latin typeface="Montserrat" pitchFamily="2" charset="0"/>
              </a:rPr>
              <a:t>Kabel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Jaringan</a:t>
            </a:r>
            <a:endParaRPr lang="en-US" sz="3000" dirty="0">
              <a:latin typeface="Montserrat" pitchFamily="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961" y="1604120"/>
            <a:ext cx="3617825" cy="2696815"/>
          </a:xfrm>
        </p:spPr>
      </p:pic>
      <p:sp>
        <p:nvSpPr>
          <p:cNvPr id="5" name="TextBox 4"/>
          <p:cNvSpPr txBox="1"/>
          <p:nvPr/>
        </p:nvSpPr>
        <p:spPr>
          <a:xfrm>
            <a:off x="5440198" y="1604118"/>
            <a:ext cx="552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Mentransmisikan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koneksi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jaringan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endParaRPr lang="en-US" b="1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15846" y="463342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4"/>
              </a:rPr>
              <a:t>https://www.pintarkomputer.com/macam-macam-tipe-kabel-pada-komputer-pc-yang-harus-kamu-ketahui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07105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0720"/>
          </a:xfrm>
        </p:spPr>
        <p:txBody>
          <a:bodyPr>
            <a:normAutofit/>
          </a:bodyPr>
          <a:lstStyle/>
          <a:p>
            <a:pPr fontAlgn="base"/>
            <a:r>
              <a:rPr lang="en-US" sz="3000" dirty="0" err="1">
                <a:latin typeface="Montserrat" pitchFamily="2" charset="0"/>
              </a:rPr>
              <a:t>Kabel</a:t>
            </a:r>
            <a:r>
              <a:rPr lang="en-US" sz="3000" dirty="0">
                <a:latin typeface="Montserrat" pitchFamily="2" charset="0"/>
              </a:rPr>
              <a:t> Power Supply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36" y="1604120"/>
            <a:ext cx="4164015" cy="3126282"/>
          </a:xfrm>
        </p:spPr>
      </p:pic>
      <p:sp>
        <p:nvSpPr>
          <p:cNvPr id="5" name="TextBox 4"/>
          <p:cNvSpPr txBox="1"/>
          <p:nvPr/>
        </p:nvSpPr>
        <p:spPr>
          <a:xfrm>
            <a:off x="5358583" y="1623780"/>
            <a:ext cx="552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Mentransmisikan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arus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listrik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dari</a:t>
            </a:r>
            <a:r>
              <a:rPr lang="en-US" dirty="0">
                <a:latin typeface="Montserrat" pitchFamily="2" charset="0"/>
              </a:rPr>
              <a:t> Power Supply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Motherboard</a:t>
            </a:r>
            <a:endParaRPr lang="en-US" b="1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3574" y="5026717"/>
            <a:ext cx="6921910" cy="228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>
                <a:latin typeface="Montserrat" panose="00000500000000000000" pitchFamily="2" charset="0"/>
              </a:rPr>
              <a:t>: </a:t>
            </a:r>
            <a:r>
              <a:rPr lang="en-US" sz="800">
                <a:latin typeface="Montserrat" pitchFamily="2" charset="0"/>
                <a:hlinkClick r:id="rId4"/>
              </a:rPr>
              <a:t>https://www.atmojoe.com/2020/09/jenis-kabel-penghubung-pada-power.html</a:t>
            </a:r>
            <a:endParaRPr lang="en-US" sz="800" dirty="0">
              <a:latin typeface="Montserrat" pitchFamily="2" charset="0"/>
              <a:hlinkClick r:id="rId4"/>
            </a:endParaRPr>
          </a:p>
        </p:txBody>
      </p:sp>
    </p:spTree>
    <p:extLst>
      <p:ext uri="{BB962C8B-B14F-4D97-AF65-F5344CB8AC3E}">
        <p14:creationId xmlns:p14="http://schemas.microsoft.com/office/powerpoint/2010/main" val="14468831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049"/>
          </a:xfrm>
        </p:spPr>
        <p:txBody>
          <a:bodyPr>
            <a:normAutofit/>
          </a:bodyPr>
          <a:lstStyle/>
          <a:p>
            <a:pPr fontAlgn="base"/>
            <a:r>
              <a:rPr lang="en-US" sz="3000" dirty="0" err="1">
                <a:latin typeface="Montserrat" pitchFamily="2" charset="0"/>
              </a:rPr>
              <a:t>Kabel</a:t>
            </a:r>
            <a:r>
              <a:rPr lang="en-US" sz="3000" dirty="0">
                <a:latin typeface="Montserrat" pitchFamily="2" charset="0"/>
              </a:rPr>
              <a:t> Front Panel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74" y="1704765"/>
            <a:ext cx="4164015" cy="2413717"/>
          </a:xfrm>
        </p:spPr>
      </p:pic>
      <p:sp>
        <p:nvSpPr>
          <p:cNvPr id="5" name="TextBox 4"/>
          <p:cNvSpPr txBox="1"/>
          <p:nvPr/>
        </p:nvSpPr>
        <p:spPr>
          <a:xfrm>
            <a:off x="5515899" y="1613948"/>
            <a:ext cx="6086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Mentransmisikan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arus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listrik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dari</a:t>
            </a:r>
            <a:r>
              <a:rPr lang="en-US" dirty="0">
                <a:latin typeface="Montserrat" pitchFamily="2" charset="0"/>
              </a:rPr>
              <a:t> Motherboard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tombol</a:t>
            </a:r>
            <a:r>
              <a:rPr lang="en-US" dirty="0">
                <a:latin typeface="Montserrat" pitchFamily="2" charset="0"/>
              </a:rPr>
              <a:t> power, </a:t>
            </a:r>
            <a:r>
              <a:rPr lang="en-US" dirty="0" err="1">
                <a:latin typeface="Montserrat" pitchFamily="2" charset="0"/>
              </a:rPr>
              <a:t>tombol</a:t>
            </a:r>
            <a:r>
              <a:rPr lang="en-US" dirty="0">
                <a:latin typeface="Montserrat" pitchFamily="2" charset="0"/>
              </a:rPr>
              <a:t> reset, dan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LED </a:t>
            </a:r>
            <a:r>
              <a:rPr lang="en-US" dirty="0" err="1">
                <a:latin typeface="Montserrat" pitchFamily="2" charset="0"/>
              </a:rPr>
              <a:t>tombol</a:t>
            </a:r>
            <a:r>
              <a:rPr lang="en-US" dirty="0">
                <a:latin typeface="Montserrat" pitchFamily="2" charset="0"/>
              </a:rPr>
              <a:t> power dan LED Hard Disk yang </a:t>
            </a:r>
            <a:r>
              <a:rPr lang="en-US" dirty="0" err="1">
                <a:latin typeface="Montserrat" pitchFamily="2" charset="0"/>
              </a:rPr>
              <a:t>berada</a:t>
            </a:r>
            <a:r>
              <a:rPr lang="en-US" dirty="0">
                <a:latin typeface="Montserrat" pitchFamily="2" charset="0"/>
              </a:rPr>
              <a:t> di </a:t>
            </a:r>
            <a:r>
              <a:rPr lang="en-US" dirty="0" err="1">
                <a:latin typeface="Montserrat" pitchFamily="2" charset="0"/>
              </a:rPr>
              <a:t>bagian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depan</a:t>
            </a:r>
            <a:r>
              <a:rPr lang="en-US" dirty="0">
                <a:latin typeface="Montserrat" pitchFamily="2" charset="0"/>
              </a:rPr>
              <a:t> casing (front panel)</a:t>
            </a:r>
            <a:endParaRPr lang="en-US" b="1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3574" y="502671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4"/>
              </a:rPr>
              <a:t>https://www.pintarkomputer.com/macam-macam-tipe-kabel-pada-komputer-pc-yang-harus-kamu-ketahui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8472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Port &amp; </a:t>
            </a:r>
            <a:r>
              <a:rPr lang="en-US" sz="3000" dirty="0" err="1">
                <a:latin typeface="Montserrat" pitchFamily="2" charset="0"/>
              </a:rPr>
              <a:t>Tombol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145160" y="1779638"/>
            <a:ext cx="5439697" cy="2858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latin typeface="Montserrat" pitchFamily="2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40542" y="1917290"/>
            <a:ext cx="4286864" cy="1651820"/>
          </a:xfrm>
          <a:prstGeom prst="roundRect">
            <a:avLst/>
          </a:prstGeom>
          <a:solidFill>
            <a:schemeClr val="bg1"/>
          </a:solidFill>
          <a:ln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Montserrat" pitchFamily="2" charset="0"/>
            </a:endParaRPr>
          </a:p>
          <a:p>
            <a:endParaRPr lang="en-US" dirty="0">
              <a:solidFill>
                <a:schemeClr val="tx1"/>
              </a:solidFill>
              <a:latin typeface="Montserrat" pitchFamily="2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Montserrat" pitchFamily="2" charset="0"/>
              </a:rPr>
              <a:t>Lubang</a:t>
            </a:r>
            <a:r>
              <a:rPr lang="en-US" dirty="0">
                <a:solidFill>
                  <a:schemeClr val="tx1"/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Montserrat" pitchFamily="2" charset="0"/>
              </a:rPr>
              <a:t>pada</a:t>
            </a:r>
            <a:r>
              <a:rPr lang="en-US" dirty="0">
                <a:solidFill>
                  <a:schemeClr val="tx1"/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Montserrat" pitchFamily="2" charset="0"/>
              </a:rPr>
              <a:t>komputer</a:t>
            </a:r>
            <a:r>
              <a:rPr lang="en-US" dirty="0">
                <a:solidFill>
                  <a:schemeClr val="tx1"/>
                </a:solidFill>
                <a:latin typeface="Montserrat" pitchFamily="2" charset="0"/>
              </a:rPr>
              <a:t> yang </a:t>
            </a:r>
            <a:r>
              <a:rPr lang="en-US" dirty="0" err="1">
                <a:solidFill>
                  <a:schemeClr val="tx1"/>
                </a:solidFill>
                <a:latin typeface="Montserrat" pitchFamily="2" charset="0"/>
              </a:rPr>
              <a:t>berfungsi</a:t>
            </a:r>
            <a:r>
              <a:rPr lang="en-US" dirty="0">
                <a:solidFill>
                  <a:schemeClr val="tx1"/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Montserrat" pitchFamily="2" charset="0"/>
              </a:rPr>
              <a:t>sebagai</a:t>
            </a:r>
            <a:r>
              <a:rPr lang="en-US" dirty="0">
                <a:solidFill>
                  <a:schemeClr val="tx1"/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Montserrat" pitchFamily="2" charset="0"/>
              </a:rPr>
              <a:t>jalur</a:t>
            </a:r>
            <a:r>
              <a:rPr lang="en-US" dirty="0">
                <a:solidFill>
                  <a:schemeClr val="tx1"/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Montserrat" pitchFamily="2" charset="0"/>
              </a:rPr>
              <a:t>transmisi</a:t>
            </a:r>
            <a:r>
              <a:rPr lang="en-US" dirty="0">
                <a:solidFill>
                  <a:schemeClr val="tx1"/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Montserrat" pitchFamily="2" charset="0"/>
              </a:rPr>
              <a:t>sinyal</a:t>
            </a:r>
            <a:r>
              <a:rPr lang="en-US" dirty="0">
                <a:solidFill>
                  <a:schemeClr val="tx1"/>
                </a:solidFill>
                <a:latin typeface="Montserrat" pitchFamily="2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Montserrat" pitchFamily="2" charset="0"/>
              </a:rPr>
              <a:t>arus</a:t>
            </a:r>
            <a:r>
              <a:rPr lang="en-US" dirty="0">
                <a:solidFill>
                  <a:schemeClr val="tx1"/>
                </a:solidFill>
                <a:latin typeface="Montserrat" pitchFamily="2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Montserrat" pitchFamily="2" charset="0"/>
              </a:rPr>
              <a:t>maupun</a:t>
            </a:r>
            <a:r>
              <a:rPr lang="en-US" dirty="0">
                <a:solidFill>
                  <a:schemeClr val="tx1"/>
                </a:solidFill>
                <a:latin typeface="Montserrat" pitchFamily="2" charset="0"/>
              </a:rPr>
              <a:t> data </a:t>
            </a:r>
          </a:p>
          <a:p>
            <a:endParaRPr lang="en-US" dirty="0">
              <a:solidFill>
                <a:schemeClr val="tx1"/>
              </a:solidFill>
              <a:latin typeface="Montserrat" pitchFamily="2" charset="0"/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98937" y="1737421"/>
            <a:ext cx="1170073" cy="358877"/>
          </a:xfrm>
          <a:prstGeom prst="roundRect">
            <a:avLst/>
          </a:prstGeom>
          <a:solidFill>
            <a:srgbClr val="0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97414" y="1916860"/>
            <a:ext cx="4286864" cy="1652250"/>
          </a:xfrm>
          <a:prstGeom prst="roundRect">
            <a:avLst/>
          </a:prstGeom>
          <a:solidFill>
            <a:schemeClr val="bg1"/>
          </a:solidFill>
          <a:ln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Media yang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digunakan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untuk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melakukan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sebuah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perintah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terhadap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dengan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cara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diklik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atau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ditekan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55809" y="1737420"/>
            <a:ext cx="1170073" cy="358877"/>
          </a:xfrm>
          <a:prstGeom prst="roundRect">
            <a:avLst/>
          </a:prstGeom>
          <a:solidFill>
            <a:srgbClr val="0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2">
                    <a:lumMod val="25000"/>
                  </a:schemeClr>
                </a:solidFill>
              </a:rPr>
              <a:t>Tombol</a:t>
            </a:r>
            <a:endParaRPr 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40542" y="4078381"/>
            <a:ext cx="81853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Montserrat" pitchFamily="2" charset="0"/>
              </a:rPr>
              <a:t>Ada 2 </a:t>
            </a:r>
            <a:r>
              <a:rPr lang="en-US" dirty="0" err="1">
                <a:latin typeface="Montserrat" pitchFamily="2" charset="0"/>
              </a:rPr>
              <a:t>bentuk</a:t>
            </a:r>
            <a:r>
              <a:rPr lang="en-US" dirty="0">
                <a:latin typeface="Montserrat" pitchFamily="2" charset="0"/>
              </a:rPr>
              <a:t> Port/</a:t>
            </a:r>
            <a:r>
              <a:rPr lang="en-US" dirty="0" err="1">
                <a:latin typeface="Montserrat" pitchFamily="2" charset="0"/>
              </a:rPr>
              <a:t>Tombol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pada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sistem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: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latin typeface="Montserrat" pitchFamily="2" charset="0"/>
              </a:rPr>
              <a:t>Port/</a:t>
            </a:r>
            <a:r>
              <a:rPr lang="en-US" dirty="0" err="1">
                <a:latin typeface="Montserrat" pitchFamily="2" charset="0"/>
              </a:rPr>
              <a:t>Tombol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Fisik</a:t>
            </a:r>
            <a:endParaRPr lang="en-US" dirty="0">
              <a:latin typeface="Montserrat" pitchFamily="2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latin typeface="Montserrat" pitchFamily="2" charset="0"/>
              </a:rPr>
              <a:t>Port/</a:t>
            </a:r>
            <a:r>
              <a:rPr lang="en-US" dirty="0" err="1">
                <a:latin typeface="Montserrat" pitchFamily="2" charset="0"/>
              </a:rPr>
              <a:t>Tombol</a:t>
            </a:r>
            <a:r>
              <a:rPr lang="en-US" dirty="0">
                <a:latin typeface="Montserrat" pitchFamily="2" charset="0"/>
              </a:rPr>
              <a:t> Non </a:t>
            </a:r>
            <a:r>
              <a:rPr lang="en-US" dirty="0" err="1">
                <a:latin typeface="Montserrat" pitchFamily="2" charset="0"/>
              </a:rPr>
              <a:t>Fisik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50232" y="2466201"/>
            <a:ext cx="46519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&amp;</a:t>
            </a:r>
            <a:endParaRPr lang="en-US" sz="3000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968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  <p:bldP spid="11" grpId="0" animBg="1"/>
      <p:bldP spid="12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43033" y="1811964"/>
            <a:ext cx="4572001" cy="2599906"/>
          </a:xfrm>
        </p:spPr>
      </p:pic>
      <p:pic>
        <p:nvPicPr>
          <p:cNvPr id="7" name="Content Placeholder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" t="3738" b="3996"/>
          <a:stretch/>
        </p:blipFill>
        <p:spPr>
          <a:xfrm rot="5400000">
            <a:off x="2580169" y="1882086"/>
            <a:ext cx="4572000" cy="2459664"/>
          </a:xfrm>
          <a:prstGeom prst="rect">
            <a:avLst/>
          </a:prstGeom>
          <a:ln w="38100">
            <a:noFill/>
          </a:ln>
        </p:spPr>
      </p:pic>
      <p:grpSp>
        <p:nvGrpSpPr>
          <p:cNvPr id="16" name="Group 15"/>
          <p:cNvGrpSpPr/>
          <p:nvPr/>
        </p:nvGrpSpPr>
        <p:grpSpPr>
          <a:xfrm>
            <a:off x="6499123" y="4603643"/>
            <a:ext cx="5132436" cy="369332"/>
            <a:chOff x="6499123" y="4603643"/>
            <a:chExt cx="5132436" cy="369332"/>
          </a:xfrm>
        </p:grpSpPr>
        <p:cxnSp>
          <p:nvCxnSpPr>
            <p:cNvPr id="3" name="Straight Arrow Connector 2"/>
            <p:cNvCxnSpPr/>
            <p:nvPr/>
          </p:nvCxnSpPr>
          <p:spPr>
            <a:xfrm flipV="1">
              <a:off x="7177548" y="4788309"/>
              <a:ext cx="2330245" cy="29498"/>
            </a:xfrm>
            <a:prstGeom prst="straightConnector1">
              <a:avLst/>
            </a:prstGeom>
            <a:ln w="57150">
              <a:solidFill>
                <a:srgbClr val="0F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>
              <a:off x="6499123" y="4709652"/>
              <a:ext cx="678425" cy="235974"/>
            </a:xfrm>
            <a:prstGeom prst="roundRect">
              <a:avLst/>
            </a:prstGeom>
            <a:noFill/>
            <a:ln w="38100">
              <a:solidFill>
                <a:srgbClr val="0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586450" y="4603643"/>
              <a:ext cx="2045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Port Audio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479459" y="4176391"/>
            <a:ext cx="5397909" cy="646331"/>
            <a:chOff x="6499123" y="4178809"/>
            <a:chExt cx="5397909" cy="646331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6838335" y="4514530"/>
              <a:ext cx="2330245" cy="29498"/>
            </a:xfrm>
            <a:prstGeom prst="straightConnector1">
              <a:avLst/>
            </a:prstGeom>
            <a:ln w="57150">
              <a:solidFill>
                <a:srgbClr val="0F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99123" y="4369816"/>
              <a:ext cx="339212" cy="339836"/>
            </a:xfrm>
            <a:prstGeom prst="roundRect">
              <a:avLst/>
            </a:prstGeom>
            <a:noFill/>
            <a:ln w="38100">
              <a:solidFill>
                <a:srgbClr val="0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68580" y="4178809"/>
              <a:ext cx="27284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Port Ethernet/Port LAN/Port Network 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494206" y="3726840"/>
            <a:ext cx="5397909" cy="640558"/>
            <a:chOff x="6499123" y="4344613"/>
            <a:chExt cx="5397909" cy="640558"/>
          </a:xfrm>
        </p:grpSpPr>
        <p:cxnSp>
          <p:nvCxnSpPr>
            <p:cNvPr id="29" name="Straight Arrow Connector 28"/>
            <p:cNvCxnSpPr/>
            <p:nvPr/>
          </p:nvCxnSpPr>
          <p:spPr>
            <a:xfrm flipV="1">
              <a:off x="6838335" y="4514530"/>
              <a:ext cx="2330245" cy="29498"/>
            </a:xfrm>
            <a:prstGeom prst="straightConnector1">
              <a:avLst/>
            </a:prstGeom>
            <a:ln w="57150">
              <a:solidFill>
                <a:srgbClr val="0F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/>
            <p:cNvSpPr/>
            <p:nvPr/>
          </p:nvSpPr>
          <p:spPr>
            <a:xfrm>
              <a:off x="6499123" y="4363475"/>
              <a:ext cx="339212" cy="621696"/>
            </a:xfrm>
            <a:prstGeom prst="roundRect">
              <a:avLst/>
            </a:prstGeom>
            <a:noFill/>
            <a:ln w="38100">
              <a:solidFill>
                <a:srgbClr val="0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68580" y="4344613"/>
              <a:ext cx="2728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Port USB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449961" y="3195484"/>
            <a:ext cx="5397909" cy="424005"/>
            <a:chOff x="6499123" y="4285647"/>
            <a:chExt cx="5397909" cy="424005"/>
          </a:xfrm>
        </p:grpSpPr>
        <p:cxnSp>
          <p:nvCxnSpPr>
            <p:cNvPr id="33" name="Straight Arrow Connector 32"/>
            <p:cNvCxnSpPr/>
            <p:nvPr/>
          </p:nvCxnSpPr>
          <p:spPr>
            <a:xfrm flipV="1">
              <a:off x="6838335" y="4514530"/>
              <a:ext cx="2330245" cy="29498"/>
            </a:xfrm>
            <a:prstGeom prst="straightConnector1">
              <a:avLst/>
            </a:prstGeom>
            <a:ln w="57150">
              <a:solidFill>
                <a:srgbClr val="0F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ounded Rectangle 33"/>
            <p:cNvSpPr/>
            <p:nvPr/>
          </p:nvSpPr>
          <p:spPr>
            <a:xfrm>
              <a:off x="6499123" y="4285647"/>
              <a:ext cx="339212" cy="424005"/>
            </a:xfrm>
            <a:prstGeom prst="roundRect">
              <a:avLst/>
            </a:prstGeom>
            <a:noFill/>
            <a:ln w="38100">
              <a:solidFill>
                <a:srgbClr val="0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168580" y="4312983"/>
              <a:ext cx="2728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Port VGA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808838" y="2606992"/>
            <a:ext cx="5397909" cy="832124"/>
            <a:chOff x="6499123" y="4285205"/>
            <a:chExt cx="5397909" cy="832124"/>
          </a:xfrm>
        </p:grpSpPr>
        <p:cxnSp>
          <p:nvCxnSpPr>
            <p:cNvPr id="37" name="Straight Arrow Connector 36"/>
            <p:cNvCxnSpPr/>
            <p:nvPr/>
          </p:nvCxnSpPr>
          <p:spPr>
            <a:xfrm flipV="1">
              <a:off x="6838335" y="4514530"/>
              <a:ext cx="2330245" cy="29498"/>
            </a:xfrm>
            <a:prstGeom prst="straightConnector1">
              <a:avLst/>
            </a:prstGeom>
            <a:ln w="57150">
              <a:solidFill>
                <a:srgbClr val="0F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6499123" y="4285205"/>
              <a:ext cx="339212" cy="832124"/>
            </a:xfrm>
            <a:prstGeom prst="roundRect">
              <a:avLst/>
            </a:prstGeom>
            <a:noFill/>
            <a:ln w="38100">
              <a:solidFill>
                <a:srgbClr val="0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168580" y="4338623"/>
              <a:ext cx="2728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Port Parallel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479459" y="2422326"/>
            <a:ext cx="5397909" cy="450087"/>
            <a:chOff x="6499123" y="4259565"/>
            <a:chExt cx="5397909" cy="450087"/>
          </a:xfrm>
        </p:grpSpPr>
        <p:cxnSp>
          <p:nvCxnSpPr>
            <p:cNvPr id="41" name="Straight Arrow Connector 40"/>
            <p:cNvCxnSpPr/>
            <p:nvPr/>
          </p:nvCxnSpPr>
          <p:spPr>
            <a:xfrm flipV="1">
              <a:off x="6838335" y="4444231"/>
              <a:ext cx="2330245" cy="29498"/>
            </a:xfrm>
            <a:prstGeom prst="straightConnector1">
              <a:avLst/>
            </a:prstGeom>
            <a:ln w="57150">
              <a:solidFill>
                <a:srgbClr val="0F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ounded Rectangle 41"/>
            <p:cNvSpPr/>
            <p:nvPr/>
          </p:nvSpPr>
          <p:spPr>
            <a:xfrm>
              <a:off x="6499123" y="4285647"/>
              <a:ext cx="339212" cy="424005"/>
            </a:xfrm>
            <a:prstGeom prst="roundRect">
              <a:avLst/>
            </a:prstGeom>
            <a:noFill/>
            <a:ln w="38100">
              <a:solidFill>
                <a:srgbClr val="0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168580" y="4259565"/>
              <a:ext cx="2728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Port Serial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 flipV="1">
            <a:off x="6513868" y="2056943"/>
            <a:ext cx="5651090" cy="391464"/>
            <a:chOff x="6499122" y="4019249"/>
            <a:chExt cx="5651090" cy="840488"/>
          </a:xfrm>
        </p:grpSpPr>
        <p:cxnSp>
          <p:nvCxnSpPr>
            <p:cNvPr id="45" name="Straight Arrow Connector 44"/>
            <p:cNvCxnSpPr/>
            <p:nvPr/>
          </p:nvCxnSpPr>
          <p:spPr>
            <a:xfrm flipV="1">
              <a:off x="7054643" y="4394906"/>
              <a:ext cx="2330245" cy="29498"/>
            </a:xfrm>
            <a:prstGeom prst="straightConnector1">
              <a:avLst/>
            </a:prstGeom>
            <a:ln w="57150">
              <a:solidFill>
                <a:srgbClr val="0F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ounded Rectangle 45"/>
            <p:cNvSpPr/>
            <p:nvPr/>
          </p:nvSpPr>
          <p:spPr>
            <a:xfrm>
              <a:off x="6499122" y="4019249"/>
              <a:ext cx="555523" cy="840488"/>
            </a:xfrm>
            <a:prstGeom prst="roundRect">
              <a:avLst/>
            </a:prstGeom>
            <a:noFill/>
            <a:ln w="38100">
              <a:solidFill>
                <a:srgbClr val="0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 rot="10800000">
              <a:off x="9421760" y="4116327"/>
              <a:ext cx="27284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Port PS/2 (Personal System/2)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226142" y="820379"/>
            <a:ext cx="5761703" cy="408653"/>
            <a:chOff x="226142" y="820379"/>
            <a:chExt cx="5761703" cy="408653"/>
          </a:xfrm>
        </p:grpSpPr>
        <p:cxnSp>
          <p:nvCxnSpPr>
            <p:cNvPr id="61" name="Straight Arrow Connector 60"/>
            <p:cNvCxnSpPr/>
            <p:nvPr/>
          </p:nvCxnSpPr>
          <p:spPr>
            <a:xfrm flipH="1">
              <a:off x="2517058" y="1027475"/>
              <a:ext cx="1219200" cy="0"/>
            </a:xfrm>
            <a:prstGeom prst="straightConnector1">
              <a:avLst/>
            </a:prstGeom>
            <a:ln w="57150">
              <a:solidFill>
                <a:srgbClr val="0F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 63"/>
            <p:cNvGrpSpPr/>
            <p:nvPr/>
          </p:nvGrpSpPr>
          <p:grpSpPr>
            <a:xfrm>
              <a:off x="226142" y="820379"/>
              <a:ext cx="5761703" cy="408653"/>
              <a:chOff x="226142" y="820379"/>
              <a:chExt cx="5761703" cy="408653"/>
            </a:xfrm>
          </p:grpSpPr>
          <p:sp>
            <p:nvSpPr>
              <p:cNvPr id="59" name="Rounded Rectangle 58"/>
              <p:cNvSpPr/>
              <p:nvPr/>
            </p:nvSpPr>
            <p:spPr>
              <a:xfrm>
                <a:off x="3736258" y="825918"/>
                <a:ext cx="2251587" cy="403114"/>
              </a:xfrm>
              <a:prstGeom prst="roundRect">
                <a:avLst/>
              </a:prstGeom>
              <a:noFill/>
              <a:ln w="57150">
                <a:solidFill>
                  <a:srgbClr val="0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226142" y="820379"/>
                <a:ext cx="2290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Montserrat" pitchFamily="2" charset="0"/>
                  </a:rPr>
                  <a:t>Slot Optical Drive</a:t>
                </a:r>
              </a:p>
            </p:txBody>
          </p:sp>
        </p:grpSp>
      </p:grpSp>
      <p:grpSp>
        <p:nvGrpSpPr>
          <p:cNvPr id="71" name="Group 70"/>
          <p:cNvGrpSpPr/>
          <p:nvPr/>
        </p:nvGrpSpPr>
        <p:grpSpPr>
          <a:xfrm>
            <a:off x="845573" y="4446054"/>
            <a:ext cx="3967318" cy="597893"/>
            <a:chOff x="845573" y="4446054"/>
            <a:chExt cx="3967318" cy="597893"/>
          </a:xfrm>
        </p:grpSpPr>
        <p:sp>
          <p:nvSpPr>
            <p:cNvPr id="66" name="Oval 65"/>
            <p:cNvSpPr/>
            <p:nvPr/>
          </p:nvSpPr>
          <p:spPr>
            <a:xfrm>
              <a:off x="4119715" y="4446054"/>
              <a:ext cx="693176" cy="597893"/>
            </a:xfrm>
            <a:prstGeom prst="ellipse">
              <a:avLst/>
            </a:prstGeom>
            <a:noFill/>
            <a:ln w="57150">
              <a:solidFill>
                <a:srgbClr val="0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H="1">
              <a:off x="2723535" y="4745000"/>
              <a:ext cx="1396180" cy="0"/>
            </a:xfrm>
            <a:prstGeom prst="straightConnector1">
              <a:avLst/>
            </a:prstGeom>
            <a:ln w="57150">
              <a:solidFill>
                <a:srgbClr val="0F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845573" y="4549294"/>
              <a:ext cx="2074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Montserrat" pitchFamily="2" charset="0"/>
                </a:rPr>
                <a:t>Tombol</a:t>
              </a:r>
              <a:r>
                <a:rPr lang="en-US" dirty="0">
                  <a:latin typeface="Montserrat" pitchFamily="2" charset="0"/>
                </a:rPr>
                <a:t> Power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1479754" y="4347115"/>
            <a:ext cx="3893574" cy="369332"/>
            <a:chOff x="572729" y="4411956"/>
            <a:chExt cx="3893574" cy="369332"/>
          </a:xfrm>
        </p:grpSpPr>
        <p:sp>
          <p:nvSpPr>
            <p:cNvPr id="78" name="Oval 77"/>
            <p:cNvSpPr/>
            <p:nvPr/>
          </p:nvSpPr>
          <p:spPr>
            <a:xfrm>
              <a:off x="4119715" y="4446055"/>
              <a:ext cx="346588" cy="287906"/>
            </a:xfrm>
            <a:prstGeom prst="ellipse">
              <a:avLst/>
            </a:prstGeom>
            <a:noFill/>
            <a:ln w="57150">
              <a:solidFill>
                <a:srgbClr val="0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 flipH="1">
              <a:off x="2723535" y="4596622"/>
              <a:ext cx="1396180" cy="0"/>
            </a:xfrm>
            <a:prstGeom prst="straightConnector1">
              <a:avLst/>
            </a:prstGeom>
            <a:ln w="57150">
              <a:solidFill>
                <a:srgbClr val="0F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572729" y="4411956"/>
              <a:ext cx="2074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Montserrat" pitchFamily="2" charset="0"/>
                </a:rPr>
                <a:t>Tombol</a:t>
              </a:r>
              <a:r>
                <a:rPr lang="en-US" dirty="0">
                  <a:latin typeface="Montserrat" pitchFamily="2" charset="0"/>
                </a:rPr>
                <a:t> Reset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 flipV="1">
            <a:off x="6449961" y="1054062"/>
            <a:ext cx="5850191" cy="528927"/>
            <a:chOff x="6319685" y="3724121"/>
            <a:chExt cx="5850191" cy="1135626"/>
          </a:xfrm>
        </p:grpSpPr>
        <p:cxnSp>
          <p:nvCxnSpPr>
            <p:cNvPr id="49" name="Straight Arrow Connector 48"/>
            <p:cNvCxnSpPr/>
            <p:nvPr/>
          </p:nvCxnSpPr>
          <p:spPr>
            <a:xfrm flipV="1">
              <a:off x="7155429" y="4236587"/>
              <a:ext cx="2330245" cy="29498"/>
            </a:xfrm>
            <a:prstGeom prst="straightConnector1">
              <a:avLst/>
            </a:prstGeom>
            <a:ln w="57150">
              <a:solidFill>
                <a:srgbClr val="0F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ounded Rectangle 49"/>
            <p:cNvSpPr/>
            <p:nvPr/>
          </p:nvSpPr>
          <p:spPr>
            <a:xfrm>
              <a:off x="6319685" y="3724121"/>
              <a:ext cx="845575" cy="1135626"/>
            </a:xfrm>
            <a:prstGeom prst="roundRect">
              <a:avLst/>
            </a:prstGeom>
            <a:noFill/>
            <a:ln w="38100">
              <a:solidFill>
                <a:srgbClr val="0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 rot="10800000">
              <a:off x="9441424" y="3853021"/>
              <a:ext cx="2728452" cy="792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Port Power Supply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688550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Pertanyaan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Seputar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Materi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8D685C-3267-4B8C-B928-9E38FA6C5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Montserrat" panose="00000500000000000000" pitchFamily="2" charset="0"/>
              </a:rPr>
              <a:t>Masih </a:t>
            </a:r>
            <a:r>
              <a:rPr lang="en-US" sz="2000" dirty="0" err="1">
                <a:latin typeface="Montserrat" panose="00000500000000000000" pitchFamily="2" charset="0"/>
              </a:rPr>
              <a:t>ada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gak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Kabel</a:t>
            </a:r>
            <a:r>
              <a:rPr lang="en-US" sz="2000" dirty="0">
                <a:latin typeface="Montserrat" panose="00000500000000000000" pitchFamily="2" charset="0"/>
              </a:rPr>
              <a:t>/Port/</a:t>
            </a:r>
            <a:r>
              <a:rPr lang="en-US" sz="2000" dirty="0" err="1">
                <a:latin typeface="Montserrat" panose="00000500000000000000" pitchFamily="2" charset="0"/>
              </a:rPr>
              <a:t>Tombol</a:t>
            </a:r>
            <a:r>
              <a:rPr lang="en-US" sz="2000" i="1" dirty="0">
                <a:latin typeface="Montserrat" panose="00000500000000000000" pitchFamily="2" charset="0"/>
              </a:rPr>
              <a:t> </a:t>
            </a:r>
            <a:r>
              <a:rPr lang="en-US" sz="2000" dirty="0">
                <a:latin typeface="Montserrat" panose="00000500000000000000" pitchFamily="2" charset="0"/>
              </a:rPr>
              <a:t>yang </a:t>
            </a:r>
            <a:r>
              <a:rPr lang="en-US" sz="2000" dirty="0" err="1">
                <a:latin typeface="Montserrat" panose="00000500000000000000" pitchFamily="2" charset="0"/>
              </a:rPr>
              <a:t>lainnya</a:t>
            </a:r>
            <a:r>
              <a:rPr lang="en-US" sz="2000" dirty="0">
                <a:latin typeface="Montserrat" panose="00000500000000000000" pitchFamily="2" charset="0"/>
              </a:rPr>
              <a:t>?</a:t>
            </a:r>
          </a:p>
          <a:p>
            <a:pPr lvl="1"/>
            <a:r>
              <a:rPr lang="en-US" sz="1600" dirty="0" err="1">
                <a:latin typeface="Montserrat" panose="00000500000000000000" pitchFamily="2" charset="0"/>
              </a:rPr>
              <a:t>Pengembangan</a:t>
            </a:r>
            <a:r>
              <a:rPr lang="en-US" sz="1600" dirty="0">
                <a:latin typeface="Montserrat" panose="00000500000000000000" pitchFamily="2" charset="0"/>
              </a:rPr>
              <a:t> </a:t>
            </a:r>
            <a:r>
              <a:rPr lang="en-US" sz="1600" dirty="0" err="1">
                <a:latin typeface="Montserrat" panose="00000500000000000000" pitchFamily="2" charset="0"/>
              </a:rPr>
              <a:t>dari</a:t>
            </a:r>
            <a:r>
              <a:rPr lang="en-US" sz="1600" dirty="0">
                <a:latin typeface="Montserrat" panose="00000500000000000000" pitchFamily="2" charset="0"/>
              </a:rPr>
              <a:t> yang </a:t>
            </a:r>
            <a:r>
              <a:rPr lang="en-US" sz="1600" dirty="0" err="1">
                <a:latin typeface="Montserrat" panose="00000500000000000000" pitchFamily="2" charset="0"/>
              </a:rPr>
              <a:t>sudah</a:t>
            </a:r>
            <a:r>
              <a:rPr lang="en-US" sz="1600" dirty="0">
                <a:latin typeface="Montserrat" panose="00000500000000000000" pitchFamily="2" charset="0"/>
              </a:rPr>
              <a:t> </a:t>
            </a:r>
            <a:r>
              <a:rPr lang="en-US" sz="1600" dirty="0" err="1">
                <a:latin typeface="Montserrat" panose="00000500000000000000" pitchFamily="2" charset="0"/>
              </a:rPr>
              <a:t>kita</a:t>
            </a:r>
            <a:r>
              <a:rPr lang="en-US" sz="1600" dirty="0">
                <a:latin typeface="Montserrat" panose="00000500000000000000" pitchFamily="2" charset="0"/>
              </a:rPr>
              <a:t> </a:t>
            </a:r>
            <a:r>
              <a:rPr lang="en-US" sz="1600" dirty="0" err="1">
                <a:latin typeface="Montserrat" panose="00000500000000000000" pitchFamily="2" charset="0"/>
              </a:rPr>
              <a:t>bahas</a:t>
            </a:r>
            <a:endParaRPr lang="en-US" sz="1600" dirty="0">
              <a:latin typeface="Montserrat" panose="00000500000000000000" pitchFamily="2" charset="0"/>
            </a:endParaRPr>
          </a:p>
          <a:p>
            <a:pPr lvl="1"/>
            <a:r>
              <a:rPr lang="en-ID" sz="1600" dirty="0" err="1">
                <a:latin typeface="Montserrat" panose="00000500000000000000" pitchFamily="2" charset="0"/>
              </a:rPr>
              <a:t>Kabel</a:t>
            </a:r>
            <a:r>
              <a:rPr lang="en-ID" sz="1600" dirty="0">
                <a:latin typeface="Montserrat" panose="00000500000000000000" pitchFamily="2" charset="0"/>
              </a:rPr>
              <a:t>/Port /</a:t>
            </a:r>
            <a:r>
              <a:rPr lang="en-ID" sz="1600" dirty="0" err="1">
                <a:latin typeface="Montserrat" panose="00000500000000000000" pitchFamily="2" charset="0"/>
              </a:rPr>
              <a:t>Tombol</a:t>
            </a:r>
            <a:r>
              <a:rPr lang="en-ID" sz="1600" dirty="0">
                <a:latin typeface="Montserrat" panose="00000500000000000000" pitchFamily="2" charset="0"/>
              </a:rPr>
              <a:t> </a:t>
            </a:r>
            <a:r>
              <a:rPr lang="en-ID" sz="1600" dirty="0" err="1">
                <a:latin typeface="Montserrat" panose="00000500000000000000" pitchFamily="2" charset="0"/>
              </a:rPr>
              <a:t>dari</a:t>
            </a:r>
            <a:r>
              <a:rPr lang="en-ID" sz="1600" dirty="0">
                <a:latin typeface="Montserrat" panose="00000500000000000000" pitchFamily="2" charset="0"/>
              </a:rPr>
              <a:t> </a:t>
            </a:r>
            <a:r>
              <a:rPr lang="en-ID" sz="1600" dirty="0" err="1">
                <a:latin typeface="Montserrat" panose="00000500000000000000" pitchFamily="2" charset="0"/>
              </a:rPr>
              <a:t>Perangkat</a:t>
            </a:r>
            <a:r>
              <a:rPr lang="en-ID" sz="1600" dirty="0">
                <a:latin typeface="Montserrat" panose="00000500000000000000" pitchFamily="2" charset="0"/>
              </a:rPr>
              <a:t> </a:t>
            </a:r>
            <a:r>
              <a:rPr lang="en-ID" sz="1600" dirty="0" err="1">
                <a:latin typeface="Montserrat" panose="00000500000000000000" pitchFamily="2" charset="0"/>
              </a:rPr>
              <a:t>tambahan</a:t>
            </a:r>
            <a:endParaRPr lang="en-ID" sz="1600" dirty="0">
              <a:latin typeface="Montserrat" panose="00000500000000000000" pitchFamily="2" charset="0"/>
            </a:endParaRPr>
          </a:p>
          <a:p>
            <a:pPr lvl="1"/>
            <a:r>
              <a:rPr lang="en-ID" sz="1600" dirty="0" err="1">
                <a:latin typeface="Montserrat" panose="00000500000000000000" pitchFamily="2" charset="0"/>
              </a:rPr>
              <a:t>Kabel</a:t>
            </a:r>
            <a:r>
              <a:rPr lang="en-ID" sz="1600" dirty="0">
                <a:latin typeface="Montserrat" panose="00000500000000000000" pitchFamily="2" charset="0"/>
              </a:rPr>
              <a:t>/Port</a:t>
            </a:r>
            <a:r>
              <a:rPr lang="en-ID" sz="1600" i="1" dirty="0">
                <a:latin typeface="Montserrat" panose="00000500000000000000" pitchFamily="2" charset="0"/>
              </a:rPr>
              <a:t> </a:t>
            </a:r>
            <a:r>
              <a:rPr lang="en-ID" sz="1600" dirty="0">
                <a:latin typeface="Montserrat" panose="00000500000000000000" pitchFamily="2" charset="0"/>
              </a:rPr>
              <a:t>lama yang </a:t>
            </a:r>
            <a:r>
              <a:rPr lang="en-ID" sz="1600" dirty="0" err="1">
                <a:latin typeface="Montserrat" panose="00000500000000000000" pitchFamily="2" charset="0"/>
              </a:rPr>
              <a:t>tidak</a:t>
            </a:r>
            <a:r>
              <a:rPr lang="en-ID" sz="1600" dirty="0">
                <a:latin typeface="Montserrat" panose="00000500000000000000" pitchFamily="2" charset="0"/>
              </a:rPr>
              <a:t> </a:t>
            </a:r>
            <a:r>
              <a:rPr lang="en-ID" sz="1600" dirty="0" err="1">
                <a:latin typeface="Montserrat" panose="00000500000000000000" pitchFamily="2" charset="0"/>
              </a:rPr>
              <a:t>lagi</a:t>
            </a:r>
            <a:r>
              <a:rPr lang="en-ID" sz="1600" dirty="0">
                <a:latin typeface="Montserrat" panose="00000500000000000000" pitchFamily="2" charset="0"/>
              </a:rPr>
              <a:t> </a:t>
            </a:r>
            <a:r>
              <a:rPr lang="en-ID" sz="1600" dirty="0" err="1">
                <a:latin typeface="Montserrat" panose="00000500000000000000" pitchFamily="2" charset="0"/>
              </a:rPr>
              <a:t>dipakai</a:t>
            </a:r>
            <a:endParaRPr lang="en-ID" sz="1600" i="1" dirty="0">
              <a:latin typeface="Montserrat" panose="00000500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D" sz="2000" dirty="0" err="1">
                <a:latin typeface="Montserrat" panose="00000500000000000000" pitchFamily="2" charset="0"/>
              </a:rPr>
              <a:t>Bagaimana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dengan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Kabel</a:t>
            </a:r>
            <a:r>
              <a:rPr lang="en-US" sz="2000" dirty="0">
                <a:latin typeface="Montserrat" panose="00000500000000000000" pitchFamily="2" charset="0"/>
              </a:rPr>
              <a:t>/Port/</a:t>
            </a:r>
            <a:r>
              <a:rPr lang="en-US" sz="2000" dirty="0" err="1">
                <a:latin typeface="Montserrat" panose="00000500000000000000" pitchFamily="2" charset="0"/>
              </a:rPr>
              <a:t>Tombol</a:t>
            </a:r>
            <a:r>
              <a:rPr lang="en-US" sz="2000" dirty="0">
                <a:latin typeface="Montserrat" panose="00000500000000000000" pitchFamily="2" charset="0"/>
              </a:rPr>
              <a:t> d</a:t>
            </a:r>
            <a:r>
              <a:rPr lang="en-ID" sz="2000" dirty="0">
                <a:latin typeface="Montserrat" panose="00000500000000000000" pitchFamily="2" charset="0"/>
              </a:rPr>
              <a:t>i Laptop </a:t>
            </a:r>
            <a:r>
              <a:rPr lang="en-ID" sz="2000" dirty="0" err="1">
                <a:latin typeface="Montserrat" panose="00000500000000000000" pitchFamily="2" charset="0"/>
              </a:rPr>
              <a:t>atau</a:t>
            </a:r>
            <a:r>
              <a:rPr lang="en-ID" sz="2000" dirty="0">
                <a:latin typeface="Montserrat" panose="00000500000000000000" pitchFamily="2" charset="0"/>
              </a:rPr>
              <a:t> PC </a:t>
            </a:r>
            <a:r>
              <a:rPr lang="en-ID" sz="2000" dirty="0" err="1">
                <a:latin typeface="Montserrat" panose="00000500000000000000" pitchFamily="2" charset="0"/>
              </a:rPr>
              <a:t>lainnya</a:t>
            </a:r>
            <a:r>
              <a:rPr lang="en-ID" sz="2000" dirty="0">
                <a:latin typeface="Montserrat" panose="00000500000000000000" pitchFamily="2" charset="0"/>
              </a:rPr>
              <a:t>?</a:t>
            </a:r>
          </a:p>
          <a:p>
            <a:pPr marL="0" indent="0">
              <a:buNone/>
            </a:pPr>
            <a:endParaRPr lang="en-ID" sz="20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8654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2722</TotalTime>
  <Words>500</Words>
  <Application>Microsoft Office PowerPoint</Application>
  <PresentationFormat>Widescreen</PresentationFormat>
  <Paragraphs>74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Montserrat</vt:lpstr>
      <vt:lpstr>Office Theme</vt:lpstr>
      <vt:lpstr>PowerPoint Presentation</vt:lpstr>
      <vt:lpstr>Kabel</vt:lpstr>
      <vt:lpstr>Kabel VGA (Video Graphic Array)</vt:lpstr>
      <vt:lpstr>Kabel Power</vt:lpstr>
      <vt:lpstr>Kabel HDMI (High Definition Multimedia Interface)</vt:lpstr>
      <vt:lpstr>Kabel USB (Universal Serial Bus)</vt:lpstr>
      <vt:lpstr>PowerPoint Presentation</vt:lpstr>
      <vt:lpstr>Kabel Jaringan</vt:lpstr>
      <vt:lpstr>Kabel Power Supply</vt:lpstr>
      <vt:lpstr>Kabel Front Panel</vt:lpstr>
      <vt:lpstr>Port &amp; Tombol</vt:lpstr>
      <vt:lpstr>PowerPoint Presentation</vt:lpstr>
      <vt:lpstr>Pertanyaan Seputar Materi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ekyzupaldry@gmail.com</cp:lastModifiedBy>
  <cp:revision>1334</cp:revision>
  <dcterms:created xsi:type="dcterms:W3CDTF">2021-04-24T02:20:04Z</dcterms:created>
  <dcterms:modified xsi:type="dcterms:W3CDTF">2023-08-26T17:40:55Z</dcterms:modified>
</cp:coreProperties>
</file>