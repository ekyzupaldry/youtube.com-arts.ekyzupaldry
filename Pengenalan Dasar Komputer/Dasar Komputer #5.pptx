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5.jpg" ContentType="image/gif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1" r:id="rId2"/>
    <p:sldId id="283" r:id="rId3"/>
    <p:sldId id="290" r:id="rId4"/>
    <p:sldId id="307" r:id="rId5"/>
    <p:sldId id="284" r:id="rId6"/>
    <p:sldId id="308" r:id="rId7"/>
    <p:sldId id="285" r:id="rId8"/>
    <p:sldId id="309" r:id="rId9"/>
    <p:sldId id="287" r:id="rId10"/>
    <p:sldId id="310" r:id="rId11"/>
    <p:sldId id="288" r:id="rId12"/>
    <p:sldId id="311" r:id="rId13"/>
    <p:sldId id="289" r:id="rId14"/>
    <p:sldId id="312" r:id="rId15"/>
    <p:sldId id="299" r:id="rId16"/>
    <p:sldId id="291" r:id="rId17"/>
    <p:sldId id="292" r:id="rId18"/>
    <p:sldId id="293" r:id="rId19"/>
    <p:sldId id="316" r:id="rId20"/>
    <p:sldId id="294" r:id="rId21"/>
    <p:sldId id="314" r:id="rId22"/>
    <p:sldId id="313" r:id="rId23"/>
    <p:sldId id="298" r:id="rId24"/>
    <p:sldId id="315" r:id="rId25"/>
    <p:sldId id="295" r:id="rId26"/>
    <p:sldId id="296" r:id="rId27"/>
    <p:sldId id="297" r:id="rId28"/>
    <p:sldId id="302" r:id="rId29"/>
    <p:sldId id="304" r:id="rId30"/>
    <p:sldId id="306" r:id="rId31"/>
    <p:sldId id="303" r:id="rId32"/>
    <p:sldId id="301" r:id="rId33"/>
    <p:sldId id="300" r:id="rId34"/>
    <p:sldId id="305" r:id="rId35"/>
    <p:sldId id="31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FFFF"/>
    <a:srgbClr val="6B4809"/>
    <a:srgbClr val="FFA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97" autoAdjust="0"/>
    <p:restoredTop sz="86499" autoAdjust="0"/>
  </p:normalViewPr>
  <p:slideViewPr>
    <p:cSldViewPr snapToGrid="0">
      <p:cViewPr varScale="1">
        <p:scale>
          <a:sx n="60" d="100"/>
          <a:sy n="60" d="100"/>
        </p:scale>
        <p:origin x="69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162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-382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125E2-BA86-42E6-B646-607113BC3EEA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7143C-AAF8-42C1-BB04-F031C01AD8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18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7" Type="http://schemas.openxmlformats.org/officeDocument/2006/relationships/hyperlink" Target="https://fungsi.co.id/fungsi-flashdisk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slideshare.net/MGselvia/jenis-jenis-optical-drive" TargetMode="External"/><Relationship Id="rId5" Type="http://schemas.openxmlformats.org/officeDocument/2006/relationships/hyperlink" Target="http://blog.unnes.ac.id/sutrisno/2017/02/09/pengertian-rom-fungsinya-dan-cara-kerja" TargetMode="External"/><Relationship Id="rId4" Type="http://schemas.openxmlformats.org/officeDocument/2006/relationships/hyperlink" Target="https://id.wikipedia.org/wiki/Kasing_komputer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4"/>
              </a:rPr>
              <a:t>https://id.wikipedia.org/wiki/Kasing_komputer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 pitchFamily="2" charset="0"/>
                <a:hlinkClick r:id="rId5"/>
              </a:rPr>
              <a:t>http://blog.unnes.ac.id/sutrisno/2017/02/09/pengertian-rom-fungsinya-dan-cara-kerja</a:t>
            </a:r>
            <a:endParaRPr lang="en-US" sz="1200" dirty="0">
              <a:latin typeface="Montserrat" panose="00000500000000000000" pitchFamily="2" charset="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/>
                <a:hlinkClick r:id="rId6"/>
              </a:rPr>
              <a:t>https://www.slideshare.net/MGselvia/jenis-jenis-optical-drive</a:t>
            </a:r>
            <a:endParaRPr lang="en-US" sz="1200" dirty="0">
              <a:latin typeface="Montserrat" panose="00000500000000000000"/>
            </a:endParaRPr>
          </a:p>
          <a:p>
            <a:pPr marL="171450" indent="-17145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latin typeface="Montserrat" panose="00000500000000000000"/>
                <a:hlinkClick r:id="rId7"/>
              </a:rPr>
              <a:t>https://fungsi.co.id</a:t>
            </a:r>
            <a:r>
              <a:rPr lang="en-US" sz="1200">
                <a:latin typeface="Montserrat" panose="00000500000000000000"/>
                <a:hlinkClick r:id="rId7"/>
              </a:rPr>
              <a:t>/fungsi-flashdisk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7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17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A7143C-AAF8-42C1-BB04-F031C01AD8B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8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54A-B5E4-46BE-96D3-19229C8A8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AC46C-E13F-445C-B714-5281DA3C1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6C094-9635-4D67-9BDD-8E6EEB747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AA9-234E-40FF-BE62-1F9432D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1E945-E56F-4AC8-8B74-DBBB9C19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44022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3A93-5FE2-44C6-8700-40CACAD1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E75A-D26A-4BB9-B0E9-21C9C3AE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70ED-CED3-488A-830D-029CA478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2784-787E-4077-9271-F5811399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7317-B926-4584-9234-F9352A10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224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D2CFD-81C8-4476-ABB7-DE210520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DF3D6-5EC6-4330-8475-3C1F844C5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48A27-3B28-499C-8A45-1CB9CAE04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806D-12F8-40B1-805C-5C8F83D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21AF-27C6-44D5-B5F3-DC13CF7A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7604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ECBF6-A118-4423-ADC6-4609B403A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F451D-C080-4228-B10A-E6AD68CE5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F8468-1EBC-4E2A-936F-83F5195D1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FED6-F766-4C0C-9EC2-8E17ED239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7A370-262E-4CF6-9A07-E288E5FC2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C1239-9AB6-4AAB-ABC8-1B8B61ED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4825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771C-7E2C-49A2-99F7-FBEB64D6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095D2-8AE3-4651-93E3-457286A94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CC1F8-E035-41E9-94E0-C73A9B66B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747B9-8C2B-4DB3-BFF4-05F88B103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90F90-2218-45E2-8CE8-510DE1ED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E434CC-5F5E-4FF7-97E1-373D8BF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274D1-43F6-4CB7-A2E9-D1637BEE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B6571-058D-4B02-BEB5-AAB96537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73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779-BE38-44D5-9959-5B164292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E959A-8352-4960-95EA-0F597F09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6C4C9-761E-4758-96BD-F884925E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51A1E-8F82-44AE-AED5-9128EA1A2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41140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4A2D92-CADF-440C-947E-F3DE90F5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876D0-BE27-46C4-BAEA-AEF6EEBA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0022-C951-41B8-9D28-ECD9494B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876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9BA4-8620-4880-AB6A-EB6127B6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7F07-9106-417E-BA0D-8CB84E6B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13716-33BB-485E-A5FB-1D324D960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723C9-3A6E-408B-B5D6-2B79C2C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A768F-8468-4633-ACEA-F0DC8A9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EBC8B-164C-4019-87F1-B3F224C1D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0828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3F3D-F170-4B3C-A70E-1D96B603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7D2CC-E188-4B2C-BCC0-AC21AECF2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297DF-7B91-4747-8875-044E50A53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DDA27-711D-483E-8C51-67A75BA7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738CC-1B2E-483C-80F9-C3D122B0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E2453D-074C-48B0-9EBC-E61DB9550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7690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FBD8-CBF7-42CE-8D6F-58AA0B16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CA9BA-2A02-4CEA-9E91-0D7792C32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2ACA1-0010-4694-A6F6-DF0DEDA1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0B7B9-242D-4397-B640-8F9D6F54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E115-D43A-400A-8808-28CDEF08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821774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C3801-B72C-43F9-B28E-C710221BF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F5AE-D439-421B-AAC9-1252BC214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C4011-C163-4EAA-9104-4197C9EBC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A5E12-BA61-421A-92BC-9400287C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A5FD-FF72-411C-8DC9-289ACCB7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3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2D3B-4714-4844-89EF-A49F26DA9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5EB5-3248-414E-932F-5CDFB1F38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1E50-A3EA-4DC8-870D-C5DE79B6DF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F1523-4F5B-4256-84E0-962681017A1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C7345-AF83-4CE9-BC67-587913DCB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64082-3287-407B-8653-5A0B6D92D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179AE-866F-447E-A771-A7EB7A2B47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3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sabamedia.com/pengertian-dan-macam-macam-perangkat-keras-kompute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unnes.ac.id/sutrisno/2017/02/09/pengertian-rom-fungsinya-dan-cara-kerja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lideshare.net/MGselvia/jenis-jenis-optical-driv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id.wikipedia.org/wiki/Kasing_kompute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sabamedia.com/pengertian-dan-macam-macam-perangkat-keras-komputer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sabamedia.com/pengertian-dan-macam-macam-perangkat-keras-komputer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FA05796-321A-4803-85AD-F5DBEF60D8F3}"/>
              </a:ext>
            </a:extLst>
          </p:cNvPr>
          <p:cNvSpPr/>
          <p:nvPr/>
        </p:nvSpPr>
        <p:spPr>
          <a:xfrm>
            <a:off x="789495" y="2697480"/>
            <a:ext cx="10613010" cy="731520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itchFamily="2" charset="0"/>
              </a:rPr>
              <a:t>PENGENALAN DASAR 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KOMPUTER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F19E30-7F70-44CF-95F9-C831B81812F8}"/>
              </a:ext>
            </a:extLst>
          </p:cNvPr>
          <p:cNvSpPr/>
          <p:nvPr/>
        </p:nvSpPr>
        <p:spPr>
          <a:xfrm>
            <a:off x="3143250" y="3429000"/>
            <a:ext cx="5905500" cy="616889"/>
          </a:xfrm>
          <a:prstGeom prst="rect">
            <a:avLst/>
          </a:prstGeom>
          <a:noFill/>
          <a:ln w="28575">
            <a:solidFill>
              <a:srgbClr val="0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#5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de-DE" dirty="0">
                <a:solidFill>
                  <a:schemeClr val="bg2">
                    <a:lumMod val="25000"/>
                  </a:schemeClr>
                </a:solidFill>
                <a:latin typeface="Montserrat" panose="00000500000000000000" pitchFamily="2" charset="0"/>
              </a:rPr>
              <a:t>Contoh-Contoh Hardware Beserta Fungsinya</a:t>
            </a:r>
            <a:endParaRPr lang="en-US" dirty="0">
              <a:solidFill>
                <a:schemeClr val="bg2">
                  <a:lumMod val="2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93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1. Casing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917" y="1549543"/>
            <a:ext cx="5301581" cy="3976186"/>
          </a:xfrm>
        </p:spPr>
      </p:pic>
      <p:sp>
        <p:nvSpPr>
          <p:cNvPr id="5" name="TextBox 4"/>
          <p:cNvSpPr txBox="1"/>
          <p:nvPr/>
        </p:nvSpPr>
        <p:spPr>
          <a:xfrm>
            <a:off x="6912077" y="1567030"/>
            <a:ext cx="5279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Tempat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pemasangan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sebagian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besar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komponen-komponen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sekaligus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melindungi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komponen-komponen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tersebut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7966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2062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2. Power Supply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50" y="1742711"/>
            <a:ext cx="5301581" cy="3339996"/>
          </a:xfrm>
        </p:spPr>
      </p:pic>
      <p:sp>
        <p:nvSpPr>
          <p:cNvPr id="5" name="TextBox 4"/>
          <p:cNvSpPr txBox="1"/>
          <p:nvPr/>
        </p:nvSpPr>
        <p:spPr>
          <a:xfrm>
            <a:off x="6912077" y="1567030"/>
            <a:ext cx="52799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Menyuplai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komponen-komponen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dalam</a:t>
            </a:r>
            <a:r>
              <a:rPr lang="en-US" dirty="0">
                <a:latin typeface="Montserrat" pitchFamily="2" charset="0"/>
              </a:rPr>
              <a:t> casing (</a:t>
            </a:r>
            <a:r>
              <a:rPr lang="en-US" dirty="0" err="1">
                <a:latin typeface="Montserrat" pitchFamily="2" charset="0"/>
              </a:rPr>
              <a:t>jantung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9871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852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16" y="195940"/>
            <a:ext cx="9772942" cy="5699617"/>
          </a:xfrm>
        </p:spPr>
      </p:pic>
      <p:sp>
        <p:nvSpPr>
          <p:cNvPr id="6" name="Rectangle 5"/>
          <p:cNvSpPr/>
          <p:nvPr/>
        </p:nvSpPr>
        <p:spPr>
          <a:xfrm>
            <a:off x="1118216" y="5977203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766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3. Motherboard (</a:t>
            </a:r>
            <a:r>
              <a:rPr lang="en-US" sz="3000" dirty="0" err="1">
                <a:latin typeface="Montserrat" pitchFamily="2" charset="0"/>
              </a:rPr>
              <a:t>Papan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Induk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11" y="1996344"/>
            <a:ext cx="5894438" cy="3320533"/>
          </a:xfrm>
        </p:spPr>
      </p:pic>
      <p:sp>
        <p:nvSpPr>
          <p:cNvPr id="5" name="TextBox 4"/>
          <p:cNvSpPr txBox="1"/>
          <p:nvPr/>
        </p:nvSpPr>
        <p:spPr>
          <a:xfrm>
            <a:off x="7138219" y="2009481"/>
            <a:ext cx="4925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Papan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sirkuit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berfungsi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sebagai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tempat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pemasangan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komponen-komponen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penting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lainnya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sehingga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bisa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saling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berkomunikasi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9189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16" y="195940"/>
            <a:ext cx="9772942" cy="5699617"/>
          </a:xfrm>
        </p:spPr>
      </p:pic>
      <p:sp>
        <p:nvSpPr>
          <p:cNvPr id="6" name="Rectangle 5"/>
          <p:cNvSpPr/>
          <p:nvPr/>
        </p:nvSpPr>
        <p:spPr>
          <a:xfrm>
            <a:off x="1118216" y="5977203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258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4. Processor/CPU (Central Processing Unit)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74" y="1996344"/>
            <a:ext cx="5808512" cy="3320533"/>
          </a:xfrm>
        </p:spPr>
      </p:pic>
      <p:sp>
        <p:nvSpPr>
          <p:cNvPr id="5" name="TextBox 4"/>
          <p:cNvSpPr txBox="1"/>
          <p:nvPr/>
        </p:nvSpPr>
        <p:spPr>
          <a:xfrm>
            <a:off x="7138219" y="2009481"/>
            <a:ext cx="4925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Sirkuit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elektronik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mengontrol</a:t>
            </a:r>
            <a:r>
              <a:rPr lang="en-US" dirty="0">
                <a:latin typeface="Montserrat" pitchFamily="2" charset="0"/>
              </a:rPr>
              <a:t> proses </a:t>
            </a:r>
            <a:r>
              <a:rPr lang="en-US" dirty="0" err="1">
                <a:latin typeface="Montserrat" pitchFamily="2" charset="0"/>
              </a:rPr>
              <a:t>berjalannya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sistem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(</a:t>
            </a:r>
            <a:r>
              <a:rPr lang="en-US" dirty="0" err="1">
                <a:latin typeface="Montserrat" pitchFamily="2" charset="0"/>
              </a:rPr>
              <a:t>otak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49808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" y="955547"/>
            <a:ext cx="9126232" cy="4775782"/>
          </a:xfrm>
        </p:spPr>
      </p:pic>
      <p:sp>
        <p:nvSpPr>
          <p:cNvPr id="6" name="Rectangle 5"/>
          <p:cNvSpPr/>
          <p:nvPr/>
        </p:nvSpPr>
        <p:spPr>
          <a:xfrm>
            <a:off x="978309" y="6067533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268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5. Heatsink/PC Cooler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61" y="2009481"/>
            <a:ext cx="3781049" cy="3244140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Mengurangi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panas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komponen-komponen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dalam</a:t>
            </a:r>
            <a:r>
              <a:rPr lang="en-US" dirty="0">
                <a:latin typeface="Montserrat" pitchFamily="2" charset="0"/>
              </a:rPr>
              <a:t> casing </a:t>
            </a:r>
            <a:r>
              <a:rPr lang="en-US" dirty="0" err="1">
                <a:latin typeface="Montserrat" pitchFamily="2" charset="0"/>
              </a:rPr>
              <a:t>khususnya</a:t>
            </a:r>
            <a:r>
              <a:rPr lang="en-US" dirty="0">
                <a:latin typeface="Montserrat" pitchFamily="2" charset="0"/>
              </a:rPr>
              <a:t> processor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434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" y="955547"/>
            <a:ext cx="9126232" cy="4775782"/>
          </a:xfrm>
        </p:spPr>
      </p:pic>
      <p:sp>
        <p:nvSpPr>
          <p:cNvPr id="6" name="Rectangle 5"/>
          <p:cNvSpPr/>
          <p:nvPr/>
        </p:nvSpPr>
        <p:spPr>
          <a:xfrm>
            <a:off x="978309" y="6067533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1821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6. RAM (Random Access Memory)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30" y="2130774"/>
            <a:ext cx="5087570" cy="3001666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Media </a:t>
            </a:r>
            <a:r>
              <a:rPr lang="en-US" dirty="0" err="1">
                <a:latin typeface="Montserrat" pitchFamily="2" charset="0"/>
              </a:rPr>
              <a:t>penyimpanan</a:t>
            </a:r>
            <a:r>
              <a:rPr lang="en-US" dirty="0">
                <a:latin typeface="Montserrat" pitchFamily="2" charset="0"/>
              </a:rPr>
              <a:t> primer </a:t>
            </a:r>
            <a:r>
              <a:rPr lang="en-US" i="1" dirty="0">
                <a:latin typeface="Montserrat" pitchFamily="2" charset="0"/>
              </a:rPr>
              <a:t>(primary storage)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menyimpan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maupun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instruksi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processor yang </a:t>
            </a:r>
            <a:r>
              <a:rPr lang="en-US" dirty="0" err="1">
                <a:latin typeface="Montserrat" pitchFamily="2" charset="0"/>
              </a:rPr>
              <a:t>bersifat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sementara</a:t>
            </a:r>
            <a:r>
              <a:rPr lang="en-US" dirty="0">
                <a:latin typeface="Montserrat" pitchFamily="2" charset="0"/>
              </a:rPr>
              <a:t> (data </a:t>
            </a:r>
            <a:r>
              <a:rPr lang="en-US" dirty="0" err="1">
                <a:latin typeface="Montserrat" pitchFamily="2" charset="0"/>
              </a:rPr>
              <a:t>akan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hilang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jika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dimatikan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41647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" y="955547"/>
            <a:ext cx="9126232" cy="4775782"/>
          </a:xfrm>
        </p:spPr>
      </p:pic>
      <p:sp>
        <p:nvSpPr>
          <p:cNvPr id="6" name="Rectangle 5"/>
          <p:cNvSpPr/>
          <p:nvPr/>
        </p:nvSpPr>
        <p:spPr>
          <a:xfrm>
            <a:off x="978309" y="6067533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78863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925963" cy="1325563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7. Hard Disk Drive (HDD)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69" y="1671909"/>
            <a:ext cx="3358908" cy="1984047"/>
          </a:xfrm>
        </p:spPr>
      </p:pic>
      <p:sp>
        <p:nvSpPr>
          <p:cNvPr id="5" name="TextBox 4"/>
          <p:cNvSpPr txBox="1"/>
          <p:nvPr/>
        </p:nvSpPr>
        <p:spPr>
          <a:xfrm>
            <a:off x="5958349" y="2858813"/>
            <a:ext cx="49259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Media </a:t>
            </a:r>
            <a:r>
              <a:rPr lang="en-US" dirty="0" err="1">
                <a:latin typeface="Montserrat" pitchFamily="2" charset="0"/>
              </a:rPr>
              <a:t>penyimpanan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sekunder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i="1" dirty="0">
                <a:latin typeface="Montserrat" pitchFamily="2" charset="0"/>
              </a:rPr>
              <a:t>(secondary storage)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menyimpan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secara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permanen</a:t>
            </a:r>
            <a:r>
              <a:rPr lang="en-US" dirty="0">
                <a:latin typeface="Montserrat" pitchFamily="2" charset="0"/>
              </a:rPr>
              <a:t> (data </a:t>
            </a:r>
            <a:r>
              <a:rPr lang="en-US" dirty="0" err="1">
                <a:latin typeface="Montserrat" pitchFamily="2" charset="0"/>
              </a:rPr>
              <a:t>tidak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hilang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meskipun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dimatikan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kecuali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dihapus</a:t>
            </a:r>
            <a:r>
              <a:rPr lang="en-US" dirty="0">
                <a:latin typeface="Montserrat" pitchFamily="2" charset="0"/>
              </a:rPr>
              <a:t> oleh </a:t>
            </a:r>
            <a:r>
              <a:rPr lang="en-US" dirty="0" err="1">
                <a:latin typeface="Montserrat" pitchFamily="2" charset="0"/>
              </a:rPr>
              <a:t>pengguna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32" y="4278097"/>
            <a:ext cx="3629239" cy="20444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3432" y="6449961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59B5C1-CF90-4D09-9223-BBDA4C93A34D}"/>
              </a:ext>
            </a:extLst>
          </p:cNvPr>
          <p:cNvSpPr txBox="1">
            <a:spLocks/>
          </p:cNvSpPr>
          <p:nvPr/>
        </p:nvSpPr>
        <p:spPr>
          <a:xfrm>
            <a:off x="5599332" y="365125"/>
            <a:ext cx="49259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latin typeface="Montserrat" pitchFamily="2" charset="0"/>
              </a:rPr>
              <a:t>&amp; Solid State Drive (SSD)</a:t>
            </a:r>
          </a:p>
        </p:txBody>
      </p:sp>
    </p:spTree>
    <p:extLst>
      <p:ext uri="{BB962C8B-B14F-4D97-AF65-F5344CB8AC3E}">
        <p14:creationId xmlns:p14="http://schemas.microsoft.com/office/powerpoint/2010/main" val="311183056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8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16" y="195940"/>
            <a:ext cx="9772942" cy="5699617"/>
          </a:xfrm>
        </p:spPr>
      </p:pic>
      <p:sp>
        <p:nvSpPr>
          <p:cNvPr id="6" name="Rectangle 5"/>
          <p:cNvSpPr/>
          <p:nvPr/>
        </p:nvSpPr>
        <p:spPr>
          <a:xfrm>
            <a:off x="1118216" y="5977203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1859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8. ROM (Read Only Memory)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20" y="2130774"/>
            <a:ext cx="3450190" cy="3001666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Media </a:t>
            </a:r>
            <a:r>
              <a:rPr lang="en-US" dirty="0" err="1">
                <a:latin typeface="Montserrat" pitchFamily="2" charset="0"/>
              </a:rPr>
              <a:t>penyimpanan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menyimpan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secara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permanen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namun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tersebut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hanya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bisa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dibaca</a:t>
            </a:r>
            <a:r>
              <a:rPr lang="en-US" dirty="0">
                <a:latin typeface="Montserrat" pitchFamily="2" charset="0"/>
              </a:rPr>
              <a:t> dan </a:t>
            </a:r>
            <a:r>
              <a:rPr lang="en-US" dirty="0" err="1">
                <a:latin typeface="Montserrat" pitchFamily="2" charset="0"/>
              </a:rPr>
              <a:t>terbatas</a:t>
            </a:r>
            <a:r>
              <a:rPr lang="en-US" dirty="0">
                <a:latin typeface="Montserrat" pitchFamily="2" charset="0"/>
              </a:rPr>
              <a:t> firmware </a:t>
            </a:r>
            <a:r>
              <a:rPr lang="en-US" dirty="0" err="1">
                <a:latin typeface="Montserrat" pitchFamily="2" charset="0"/>
              </a:rPr>
              <a:t>saja</a:t>
            </a:r>
            <a:r>
              <a:rPr lang="en-US" dirty="0">
                <a:latin typeface="Montserrat" pitchFamily="2" charset="0"/>
              </a:rPr>
              <a:t> (</a:t>
            </a:r>
            <a:r>
              <a:rPr lang="en-US" dirty="0" err="1">
                <a:latin typeface="Montserrat" pitchFamily="2" charset="0"/>
              </a:rPr>
              <a:t>seperti</a:t>
            </a:r>
            <a:r>
              <a:rPr lang="en-US" dirty="0">
                <a:latin typeface="Montserrat" pitchFamily="2" charset="0"/>
              </a:rPr>
              <a:t> BIOS, </a:t>
            </a:r>
            <a:r>
              <a:rPr lang="en-US" dirty="0" err="1">
                <a:latin typeface="Montserrat" pitchFamily="2" charset="0"/>
              </a:rPr>
              <a:t>pengaturan</a:t>
            </a:r>
            <a:r>
              <a:rPr lang="en-US" dirty="0">
                <a:latin typeface="Montserrat" pitchFamily="2" charset="0"/>
              </a:rPr>
              <a:t> jam)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http://blog.unnes.ac.id/sutrisno/2017/02/09/pengertian-rom-fungsinya-dan-cara-kerja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6344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Expansion Card (</a:t>
            </a:r>
            <a:r>
              <a:rPr lang="en-US" sz="3000" dirty="0" err="1">
                <a:latin typeface="Montserrat" pitchFamily="2" charset="0"/>
              </a:rPr>
              <a:t>Kartu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Ekspansi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>
                <a:latin typeface="Montserrat" pitchFamily="2" charset="0"/>
              </a:rPr>
              <a:t>Papan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sirkuit</a:t>
            </a:r>
            <a:r>
              <a:rPr lang="en-US" sz="1800" dirty="0">
                <a:latin typeface="Montserrat" pitchFamily="2" charset="0"/>
              </a:rPr>
              <a:t> yang </a:t>
            </a:r>
            <a:r>
              <a:rPr lang="en-US" sz="1800" dirty="0" err="1">
                <a:latin typeface="Montserrat" pitchFamily="2" charset="0"/>
              </a:rPr>
              <a:t>merupakan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bagian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terpisah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dari</a:t>
            </a:r>
            <a:r>
              <a:rPr lang="en-US" sz="1800" dirty="0">
                <a:latin typeface="Montserrat" pitchFamily="2" charset="0"/>
              </a:rPr>
              <a:t> Motherboard </a:t>
            </a:r>
            <a:r>
              <a:rPr lang="en-US" sz="1800" dirty="0" err="1">
                <a:latin typeface="Montserrat" pitchFamily="2" charset="0"/>
              </a:rPr>
              <a:t>namun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dapat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dimasukkan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ke</a:t>
            </a:r>
            <a:r>
              <a:rPr lang="en-US" sz="1800" dirty="0">
                <a:latin typeface="Montserrat" pitchFamily="2" charset="0"/>
              </a:rPr>
              <a:t> slot yang </a:t>
            </a:r>
            <a:r>
              <a:rPr lang="en-US" sz="1800" dirty="0" err="1">
                <a:latin typeface="Montserrat" pitchFamily="2" charset="0"/>
              </a:rPr>
              <a:t>ada</a:t>
            </a:r>
            <a:r>
              <a:rPr lang="en-US" sz="1800" dirty="0">
                <a:latin typeface="Montserrat" pitchFamily="2" charset="0"/>
              </a:rPr>
              <a:t> di Motherboard</a:t>
            </a:r>
          </a:p>
          <a:p>
            <a:r>
              <a:rPr lang="en-US" sz="1800" dirty="0" err="1">
                <a:latin typeface="Montserrat" pitchFamily="2" charset="0"/>
              </a:rPr>
              <a:t>Biasanya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dipasang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jika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ingin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meningkatkan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performa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karena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mayoritas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komputer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sebenarnya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sudah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memiliki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komponennya</a:t>
            </a:r>
            <a:r>
              <a:rPr lang="en-US" sz="1800" dirty="0">
                <a:latin typeface="Montserrat" pitchFamily="2" charset="0"/>
              </a:rPr>
              <a:t> </a:t>
            </a:r>
            <a:r>
              <a:rPr lang="en-US" sz="1800" dirty="0" err="1">
                <a:latin typeface="Montserrat" pitchFamily="2" charset="0"/>
              </a:rPr>
              <a:t>secara</a:t>
            </a:r>
            <a:r>
              <a:rPr lang="en-US" sz="1800" dirty="0">
                <a:latin typeface="Montserrat" pitchFamily="2" charset="0"/>
              </a:rPr>
              <a:t> built-in (</a:t>
            </a:r>
            <a:r>
              <a:rPr lang="en-US" sz="1800" dirty="0" err="1">
                <a:latin typeface="Montserrat" pitchFamily="2" charset="0"/>
              </a:rPr>
              <a:t>bawaan</a:t>
            </a:r>
            <a:r>
              <a:rPr lang="en-US" sz="1800" dirty="0">
                <a:latin typeface="Montserrat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56298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9. VGA (Video Graphic Array) Card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859" y="2130774"/>
            <a:ext cx="5016711" cy="3001666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Kartu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Ekspansi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berfungsi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untuk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mengolah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digital/data </a:t>
            </a:r>
            <a:r>
              <a:rPr lang="en-US" dirty="0" err="1">
                <a:latin typeface="Montserrat" pitchFamily="2" charset="0"/>
              </a:rPr>
              <a:t>grafis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meneruskannya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monitor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5664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10. Network Interface Card (NIC)/LAN (Local Area Network) Card </a:t>
            </a:r>
            <a:r>
              <a:rPr lang="en-US" sz="3000" dirty="0" err="1">
                <a:latin typeface="Montserrat" pitchFamily="2" charset="0"/>
              </a:rPr>
              <a:t>atau</a:t>
            </a:r>
            <a:r>
              <a:rPr lang="en-US" sz="3000" dirty="0">
                <a:latin typeface="Montserrat" pitchFamily="2" charset="0"/>
              </a:rPr>
              <a:t> Ethernet Card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859" y="2214386"/>
            <a:ext cx="5016711" cy="283444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Kartu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Ekspansi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berfungsi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untuk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menghubungkan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jaringan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menggunakan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kabel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82321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11. WLAN (Wireless Local Area Network) Card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5513" y="2214386"/>
            <a:ext cx="4451403" cy="283444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Kartu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Ekspansi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berfungsi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untuk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menghubungkan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jaringan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nirkabel</a:t>
            </a:r>
            <a:r>
              <a:rPr lang="en-US" dirty="0">
                <a:latin typeface="Montserrat" pitchFamily="2" charset="0"/>
              </a:rPr>
              <a:t>/</a:t>
            </a:r>
            <a:r>
              <a:rPr lang="en-US" dirty="0" err="1">
                <a:latin typeface="Montserrat" pitchFamily="2" charset="0"/>
              </a:rPr>
              <a:t>tanpa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kabel</a:t>
            </a:r>
            <a:r>
              <a:rPr lang="en-US" dirty="0">
                <a:latin typeface="Montserrat" pitchFamily="2" charset="0"/>
              </a:rPr>
              <a:t> (wireless) 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093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12. Sound Card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43" y="2214386"/>
            <a:ext cx="3868343" cy="283444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Kartu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Ekspansi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berfungsi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untuk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mengolah</a:t>
            </a:r>
            <a:r>
              <a:rPr lang="en-US" dirty="0">
                <a:latin typeface="Montserrat" pitchFamily="2" charset="0"/>
              </a:rPr>
              <a:t> data digital </a:t>
            </a:r>
            <a:r>
              <a:rPr lang="en-US" dirty="0" err="1">
                <a:latin typeface="Montserrat" pitchFamily="2" charset="0"/>
              </a:rPr>
              <a:t>menjadi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suara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97261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09" y="955547"/>
            <a:ext cx="9126232" cy="4775782"/>
          </a:xfrm>
        </p:spPr>
      </p:pic>
      <p:sp>
        <p:nvSpPr>
          <p:cNvPr id="6" name="Rectangle 5"/>
          <p:cNvSpPr/>
          <p:nvPr/>
        </p:nvSpPr>
        <p:spPr>
          <a:xfrm>
            <a:off x="978309" y="6067533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8991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16" y="195940"/>
            <a:ext cx="9772942" cy="5699617"/>
          </a:xfrm>
        </p:spPr>
      </p:pic>
      <p:sp>
        <p:nvSpPr>
          <p:cNvPr id="6" name="Rectangle 5"/>
          <p:cNvSpPr/>
          <p:nvPr/>
        </p:nvSpPr>
        <p:spPr>
          <a:xfrm>
            <a:off x="1118216" y="5977203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2931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13. Optical Drive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882" y="2046690"/>
            <a:ext cx="3868343" cy="2198508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Membaca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maupun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menulis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kepingan</a:t>
            </a:r>
            <a:r>
              <a:rPr lang="en-US" dirty="0">
                <a:latin typeface="Montserrat" pitchFamily="2" charset="0"/>
              </a:rPr>
              <a:t> CD (Compact Disk)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BFFAE-78E9-47FF-9AE2-EA6C630A7B3D}"/>
              </a:ext>
            </a:extLst>
          </p:cNvPr>
          <p:cNvSpPr txBox="1"/>
          <p:nvPr/>
        </p:nvSpPr>
        <p:spPr>
          <a:xfrm>
            <a:off x="1557882" y="4677435"/>
            <a:ext cx="9945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anose="00000500000000000000"/>
              </a:rPr>
              <a:t>Lihat</a:t>
            </a:r>
            <a:r>
              <a:rPr lang="en-US" dirty="0">
                <a:latin typeface="Montserrat" panose="00000500000000000000"/>
              </a:rPr>
              <a:t> </a:t>
            </a:r>
            <a:r>
              <a:rPr lang="en-US" dirty="0" err="1">
                <a:latin typeface="Montserrat" panose="00000500000000000000"/>
              </a:rPr>
              <a:t>Selengkapnya</a:t>
            </a:r>
            <a:r>
              <a:rPr lang="en-US" dirty="0">
                <a:latin typeface="Montserrat" panose="00000500000000000000"/>
              </a:rPr>
              <a:t> : </a:t>
            </a:r>
            <a:r>
              <a:rPr lang="en-US" dirty="0">
                <a:latin typeface="Montserrat" panose="00000500000000000000"/>
                <a:hlinkClick r:id="rId4"/>
              </a:rPr>
              <a:t>https://www.slideshare.net/MGselvia/jenis-jenis-optical-drive</a:t>
            </a:r>
            <a:endParaRPr lang="en-US" dirty="0">
              <a:latin typeface="Montserrat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17884150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216" y="195940"/>
            <a:ext cx="9772942" cy="5699617"/>
          </a:xfrm>
        </p:spPr>
      </p:pic>
      <p:sp>
        <p:nvSpPr>
          <p:cNvPr id="6" name="Rectangle 5"/>
          <p:cNvSpPr/>
          <p:nvPr/>
        </p:nvSpPr>
        <p:spPr>
          <a:xfrm>
            <a:off x="1118216" y="5977203"/>
            <a:ext cx="6921910" cy="228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https://id.wikipedia.org/wiki/Kasing_komputer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824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14. Monitor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43" y="2214386"/>
            <a:ext cx="3868343" cy="2834440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Menampilkan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gambar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hasil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pengolahan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digital/data </a:t>
            </a:r>
            <a:r>
              <a:rPr lang="en-US" dirty="0" err="1">
                <a:latin typeface="Montserrat" pitchFamily="2" charset="0"/>
              </a:rPr>
              <a:t>grafis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VGA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85792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15. Keyboard (</a:t>
            </a:r>
            <a:r>
              <a:rPr lang="en-US" sz="3000" dirty="0" err="1">
                <a:latin typeface="Montserrat" pitchFamily="2" charset="0"/>
              </a:rPr>
              <a:t>Papan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Ketik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043" y="2419525"/>
            <a:ext cx="3868343" cy="242416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5257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Menginput</a:t>
            </a:r>
            <a:r>
              <a:rPr lang="en-US" dirty="0">
                <a:latin typeface="Montserrat" pitchFamily="2" charset="0"/>
              </a:rPr>
              <a:t> data </a:t>
            </a:r>
            <a:r>
              <a:rPr lang="en-US" dirty="0" err="1">
                <a:latin typeface="Montserrat" pitchFamily="2" charset="0"/>
              </a:rPr>
              <a:t>berupa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huruf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angka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simbol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dan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karakter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lainnya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juga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dapat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menjadi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fungsi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kontrol</a:t>
            </a:r>
            <a:r>
              <a:rPr lang="en-US" dirty="0">
                <a:latin typeface="Montserrat" pitchFamily="2" charset="0"/>
              </a:rPr>
              <a:t> 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1461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16. Mouse (</a:t>
            </a:r>
            <a:r>
              <a:rPr lang="en-US" sz="3000" dirty="0" err="1">
                <a:latin typeface="Montserrat" pitchFamily="2" charset="0"/>
              </a:rPr>
              <a:t>Tetikus</a:t>
            </a:r>
            <a:r>
              <a:rPr lang="en-US" sz="3000" dirty="0">
                <a:latin typeface="Montserrat" pitchFamily="2" charset="0"/>
              </a:rPr>
              <a:t>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205" y="2227796"/>
            <a:ext cx="3868343" cy="2166272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Melakukan</a:t>
            </a:r>
            <a:r>
              <a:rPr lang="en-US" dirty="0">
                <a:latin typeface="Montserrat" pitchFamily="2" charset="0"/>
              </a:rPr>
              <a:t> input data yang </a:t>
            </a:r>
            <a:r>
              <a:rPr lang="en-US" dirty="0" err="1">
                <a:latin typeface="Montserrat" pitchFamily="2" charset="0"/>
              </a:rPr>
              <a:t>berhubungan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dengan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klik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dan</a:t>
            </a:r>
            <a:r>
              <a:rPr lang="en-US" dirty="0">
                <a:latin typeface="Montserrat" pitchFamily="2" charset="0"/>
              </a:rPr>
              <a:t> scroll, </a:t>
            </a:r>
            <a:r>
              <a:rPr lang="en-US" dirty="0" err="1">
                <a:latin typeface="Montserrat" pitchFamily="2" charset="0"/>
              </a:rPr>
              <a:t>seperti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menjalankan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aplikasi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memilih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menggerakkan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objek</a:t>
            </a:r>
            <a:r>
              <a:rPr lang="en-US" dirty="0">
                <a:latin typeface="Montserrat" pitchFamily="2" charset="0"/>
              </a:rPr>
              <a:t>, </a:t>
            </a:r>
            <a:r>
              <a:rPr lang="en-US" dirty="0" err="1">
                <a:latin typeface="Montserrat" pitchFamily="2" charset="0"/>
              </a:rPr>
              <a:t>dll</a:t>
            </a:r>
            <a:r>
              <a:rPr lang="en-US" dirty="0">
                <a:latin typeface="Montserrat" pitchFamily="2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1461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anose="00000500000000000000"/>
              </a:rPr>
              <a:t>17. Uninterruptible Power Supply (UPS)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8732" y="1882736"/>
            <a:ext cx="3016655" cy="246159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Menyimpan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arus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dan </a:t>
            </a:r>
            <a:r>
              <a:rPr lang="en-US" dirty="0" err="1">
                <a:latin typeface="Montserrat" pitchFamily="2" charset="0"/>
              </a:rPr>
              <a:t>mengalirkannya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jika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terjadi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pemadaman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listrik</a:t>
            </a:r>
            <a:r>
              <a:rPr lang="en-US" dirty="0">
                <a:latin typeface="Montserrat" pitchFamily="2" charset="0"/>
              </a:rPr>
              <a:t> (Power Supply </a:t>
            </a:r>
            <a:r>
              <a:rPr lang="en-US" dirty="0" err="1">
                <a:latin typeface="Montserrat" pitchFamily="2" charset="0"/>
              </a:rPr>
              <a:t>cadangan</a:t>
            </a:r>
            <a:r>
              <a:rPr lang="en-US" dirty="0">
                <a:latin typeface="Montserrat" pitchFamily="2" charset="0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1524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18. Flash Disk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2022618"/>
            <a:ext cx="3994386" cy="2093057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Media </a:t>
            </a:r>
            <a:r>
              <a:rPr lang="en-US" dirty="0" err="1">
                <a:latin typeface="Montserrat" pitchFamily="2" charset="0"/>
              </a:rPr>
              <a:t>penyimpanan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seperti</a:t>
            </a:r>
            <a:r>
              <a:rPr lang="en-US" dirty="0">
                <a:latin typeface="Montserrat" pitchFamily="2" charset="0"/>
              </a:rPr>
              <a:t> HDD </a:t>
            </a:r>
            <a:r>
              <a:rPr lang="en-US" dirty="0" err="1">
                <a:latin typeface="Montserrat" pitchFamily="2" charset="0"/>
              </a:rPr>
              <a:t>namun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bukan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bagian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utama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komputer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8922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19. </a:t>
            </a:r>
            <a:r>
              <a:rPr lang="en-US" sz="3000" dirty="0" err="1">
                <a:latin typeface="Montserrat" pitchFamily="2" charset="0"/>
              </a:rPr>
              <a:t>Proyektor</a:t>
            </a:r>
            <a:r>
              <a:rPr lang="en-US" sz="3000" dirty="0">
                <a:latin typeface="Montserrat" pitchFamily="2" charset="0"/>
              </a:rPr>
              <a:t> LCD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2022618"/>
            <a:ext cx="3646687" cy="2493008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Memiliki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fungsi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sama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dengan</a:t>
            </a:r>
            <a:r>
              <a:rPr lang="en-US" dirty="0">
                <a:latin typeface="Montserrat" pitchFamily="2" charset="0"/>
              </a:rPr>
              <a:t> monitor. </a:t>
            </a:r>
            <a:r>
              <a:rPr lang="en-US" dirty="0" err="1">
                <a:latin typeface="Montserrat" pitchFamily="2" charset="0"/>
              </a:rPr>
              <a:t>Perbedaannya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adalah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Proyektor</a:t>
            </a:r>
            <a:r>
              <a:rPr lang="en-US" dirty="0">
                <a:latin typeface="Montserrat" pitchFamily="2" charset="0"/>
              </a:rPr>
              <a:t> LCD </a:t>
            </a:r>
            <a:r>
              <a:rPr lang="en-US" dirty="0" err="1">
                <a:latin typeface="Montserrat" pitchFamily="2" charset="0"/>
              </a:rPr>
              <a:t>mengeluarkan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cahaya</a:t>
            </a:r>
            <a:r>
              <a:rPr lang="en-US" dirty="0">
                <a:latin typeface="Montserrat" pitchFamily="2" charset="0"/>
              </a:rPr>
              <a:t> yang </a:t>
            </a:r>
            <a:r>
              <a:rPr lang="en-US" dirty="0" err="1">
                <a:latin typeface="Montserrat" pitchFamily="2" charset="0"/>
              </a:rPr>
              <a:t>harus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diarahkan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sebuah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bidang</a:t>
            </a:r>
            <a:r>
              <a:rPr lang="en-US" dirty="0">
                <a:latin typeface="Montserrat" pitchFamily="2" charset="0"/>
              </a:rPr>
              <a:t> lain </a:t>
            </a:r>
            <a:r>
              <a:rPr lang="en-US" dirty="0" err="1">
                <a:latin typeface="Montserrat" pitchFamily="2" charset="0"/>
              </a:rPr>
              <a:t>dengan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permukaan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datar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59189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20. Speaker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400" y="2217661"/>
            <a:ext cx="3646687" cy="2102922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Mengeluarkan</a:t>
            </a:r>
            <a:r>
              <a:rPr lang="en-US" dirty="0">
                <a:latin typeface="Montserrat" pitchFamily="2" charset="0"/>
              </a:rPr>
              <a:t> audio </a:t>
            </a:r>
            <a:r>
              <a:rPr lang="en-US" dirty="0" err="1">
                <a:latin typeface="Montserrat" pitchFamily="2" charset="0"/>
              </a:rPr>
              <a:t>hasil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pengolahan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digital </a:t>
            </a:r>
            <a:r>
              <a:rPr lang="en-US" dirty="0" err="1">
                <a:latin typeface="Montserrat" pitchFamily="2" charset="0"/>
              </a:rPr>
              <a:t>dari</a:t>
            </a:r>
            <a:r>
              <a:rPr lang="en-US" dirty="0">
                <a:latin typeface="Montserrat" pitchFamily="2" charset="0"/>
              </a:rPr>
              <a:t> Sound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4014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21. Printer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5924" y="2022618"/>
            <a:ext cx="3431300" cy="2001591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Mencetak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hasil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pengolahan</a:t>
            </a:r>
            <a:r>
              <a:rPr lang="en-US" dirty="0">
                <a:latin typeface="Montserrat" pitchFamily="2" charset="0"/>
              </a:rPr>
              <a:t> data (</a:t>
            </a:r>
            <a:r>
              <a:rPr lang="en-US" dirty="0" err="1">
                <a:latin typeface="Montserrat" pitchFamily="2" charset="0"/>
              </a:rPr>
              <a:t>teks</a:t>
            </a:r>
            <a:r>
              <a:rPr lang="en-US" dirty="0">
                <a:latin typeface="Montserrat" pitchFamily="2" charset="0"/>
              </a:rPr>
              <a:t>/</a:t>
            </a:r>
            <a:r>
              <a:rPr lang="en-US" dirty="0" err="1">
                <a:latin typeface="Montserrat" pitchFamily="2" charset="0"/>
              </a:rPr>
              <a:t>gambar</a:t>
            </a:r>
            <a:r>
              <a:rPr lang="en-US" dirty="0">
                <a:latin typeface="Montserrat" pitchFamily="2" charset="0"/>
              </a:rPr>
              <a:t>) </a:t>
            </a:r>
            <a:r>
              <a:rPr lang="en-US" dirty="0" err="1">
                <a:latin typeface="Montserrat" pitchFamily="2" charset="0"/>
              </a:rPr>
              <a:t>ke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kertas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5697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22. Webcam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515" y="1690688"/>
            <a:ext cx="2902490" cy="2866209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Mengambil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gambar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atau</a:t>
            </a:r>
            <a:r>
              <a:rPr lang="en-US" dirty="0">
                <a:latin typeface="Montserrat" pitchFamily="2" charset="0"/>
              </a:rPr>
              <a:t> video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3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65155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Montserrat" pitchFamily="2" charset="0"/>
              </a:rPr>
              <a:t>23. Microphone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515" y="1690688"/>
            <a:ext cx="2902490" cy="2866208"/>
          </a:xfrm>
        </p:spPr>
      </p:pic>
      <p:sp>
        <p:nvSpPr>
          <p:cNvPr id="5" name="TextBox 4"/>
          <p:cNvSpPr txBox="1"/>
          <p:nvPr/>
        </p:nvSpPr>
        <p:spPr>
          <a:xfrm>
            <a:off x="6154993" y="2022618"/>
            <a:ext cx="5850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" pitchFamily="2" charset="0"/>
              </a:rPr>
              <a:t>Mengubah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suara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manusia</a:t>
            </a:r>
            <a:r>
              <a:rPr lang="en-US" dirty="0">
                <a:latin typeface="Montserrat" pitchFamily="2" charset="0"/>
              </a:rPr>
              <a:t> (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analog) </a:t>
            </a:r>
            <a:r>
              <a:rPr lang="en-US" dirty="0" err="1">
                <a:latin typeface="Montserrat" pitchFamily="2" charset="0"/>
              </a:rPr>
              <a:t>menjadi</a:t>
            </a:r>
            <a:r>
              <a:rPr lang="en-US" dirty="0">
                <a:latin typeface="Montserrat" pitchFamily="2" charset="0"/>
              </a:rPr>
              <a:t> </a:t>
            </a:r>
            <a:r>
              <a:rPr lang="en-US" dirty="0" err="1">
                <a:latin typeface="Montserrat" pitchFamily="2" charset="0"/>
              </a:rPr>
              <a:t>sinyal</a:t>
            </a:r>
            <a:r>
              <a:rPr lang="en-US" dirty="0">
                <a:latin typeface="Montserrat" pitchFamily="2" charset="0"/>
              </a:rPr>
              <a:t> digital yang </a:t>
            </a:r>
            <a:r>
              <a:rPr lang="en-US" dirty="0" err="1">
                <a:latin typeface="Montserrat" pitchFamily="2" charset="0"/>
              </a:rPr>
              <a:t>dimengerti</a:t>
            </a:r>
            <a:r>
              <a:rPr lang="en-US" dirty="0">
                <a:latin typeface="Montserrat" pitchFamily="2" charset="0"/>
              </a:rPr>
              <a:t> oleh </a:t>
            </a:r>
            <a:r>
              <a:rPr lang="en-US" dirty="0" err="1">
                <a:latin typeface="Montserrat" pitchFamily="2" charset="0"/>
              </a:rPr>
              <a:t>komputer</a:t>
            </a:r>
            <a:endParaRPr lang="en-US" dirty="0">
              <a:latin typeface="Montserrat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4400" y="5675647"/>
            <a:ext cx="6921910" cy="240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n-US" sz="800" dirty="0" err="1">
                <a:latin typeface="Montserrat" panose="00000500000000000000" pitchFamily="2" charset="0"/>
              </a:rPr>
              <a:t>Sumber</a:t>
            </a:r>
            <a:r>
              <a:rPr lang="en-US" sz="800" dirty="0">
                <a:latin typeface="Montserrat" panose="00000500000000000000" pitchFamily="2" charset="0"/>
              </a:rPr>
              <a:t> </a:t>
            </a:r>
            <a:r>
              <a:rPr lang="en-US" sz="800" dirty="0" err="1">
                <a:latin typeface="Montserrat" panose="00000500000000000000" pitchFamily="2" charset="0"/>
              </a:rPr>
              <a:t>Referensi</a:t>
            </a:r>
            <a:r>
              <a:rPr lang="en-US" sz="800" dirty="0">
                <a:latin typeface="Montserrat" panose="00000500000000000000" pitchFamily="2" charset="0"/>
              </a:rPr>
              <a:t> : </a:t>
            </a:r>
            <a:r>
              <a:rPr lang="en-US" sz="800" dirty="0">
                <a:latin typeface="Montserrat" panose="00000500000000000000" pitchFamily="2" charset="0"/>
                <a:hlinkClick r:id="rId4"/>
              </a:rPr>
              <a:t>https://www.nesabamedia.com/pengertian-dan-macam-macam-perangkat-keras-komputer</a:t>
            </a:r>
            <a:endParaRPr lang="en-US" sz="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0337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 err="1">
                <a:latin typeface="Montserrat" pitchFamily="2" charset="0"/>
              </a:rPr>
              <a:t>Pertanyaan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Seputar</a:t>
            </a:r>
            <a:r>
              <a:rPr lang="en-US" sz="3000" dirty="0">
                <a:latin typeface="Montserrat" pitchFamily="2" charset="0"/>
              </a:rPr>
              <a:t> </a:t>
            </a:r>
            <a:r>
              <a:rPr lang="en-US" sz="3000" dirty="0" err="1">
                <a:latin typeface="Montserrat" pitchFamily="2" charset="0"/>
              </a:rPr>
              <a:t>Materi</a:t>
            </a:r>
            <a:endParaRPr lang="en-US" sz="3000" dirty="0">
              <a:latin typeface="Montserrat" pitchFamily="2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8D685C-3267-4B8C-B928-9E38FA6C5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Montserrat" panose="00000500000000000000" pitchFamily="2" charset="0"/>
              </a:rPr>
              <a:t>Masih </a:t>
            </a:r>
            <a:r>
              <a:rPr lang="en-US" sz="2000" dirty="0" err="1">
                <a:latin typeface="Montserrat" panose="00000500000000000000" pitchFamily="2" charset="0"/>
              </a:rPr>
              <a:t>ada</a:t>
            </a:r>
            <a:r>
              <a:rPr lang="en-US" sz="2000" dirty="0">
                <a:latin typeface="Montserrat" panose="00000500000000000000" pitchFamily="2" charset="0"/>
              </a:rPr>
              <a:t> gak </a:t>
            </a:r>
            <a:r>
              <a:rPr lang="en-US" sz="2000" i="1" dirty="0">
                <a:latin typeface="Montserrat" panose="00000500000000000000" pitchFamily="2" charset="0"/>
              </a:rPr>
              <a:t>Hardware </a:t>
            </a:r>
            <a:r>
              <a:rPr lang="en-US" sz="2000" dirty="0">
                <a:latin typeface="Montserrat" panose="00000500000000000000" pitchFamily="2" charset="0"/>
              </a:rPr>
              <a:t>yang </a:t>
            </a:r>
            <a:r>
              <a:rPr lang="en-US" sz="2000" dirty="0" err="1">
                <a:latin typeface="Montserrat" panose="00000500000000000000" pitchFamily="2" charset="0"/>
              </a:rPr>
              <a:t>lainnya</a:t>
            </a:r>
            <a:r>
              <a:rPr lang="en-US" sz="2000" dirty="0">
                <a:latin typeface="Montserrat" panose="00000500000000000000" pitchFamily="2" charset="0"/>
              </a:rPr>
              <a:t>?</a:t>
            </a:r>
          </a:p>
          <a:p>
            <a:pPr lvl="1"/>
            <a:r>
              <a:rPr lang="en-US" sz="1600" dirty="0" err="1">
                <a:latin typeface="Montserrat" panose="00000500000000000000" pitchFamily="2" charset="0"/>
              </a:rPr>
              <a:t>Pengembangan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dari</a:t>
            </a:r>
            <a:r>
              <a:rPr lang="en-US" sz="1600" dirty="0">
                <a:latin typeface="Montserrat" panose="00000500000000000000" pitchFamily="2" charset="0"/>
              </a:rPr>
              <a:t> yang </a:t>
            </a:r>
            <a:r>
              <a:rPr lang="en-US" sz="1600" dirty="0" err="1">
                <a:latin typeface="Montserrat" panose="00000500000000000000" pitchFamily="2" charset="0"/>
              </a:rPr>
              <a:t>sudah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kita</a:t>
            </a:r>
            <a:r>
              <a:rPr lang="en-US" sz="1600" dirty="0">
                <a:latin typeface="Montserrat" panose="00000500000000000000" pitchFamily="2" charset="0"/>
              </a:rPr>
              <a:t> </a:t>
            </a:r>
            <a:r>
              <a:rPr lang="en-US" sz="1600" dirty="0" err="1">
                <a:latin typeface="Montserrat" panose="00000500000000000000" pitchFamily="2" charset="0"/>
              </a:rPr>
              <a:t>bahas</a:t>
            </a:r>
            <a:endParaRPr lang="en-US" sz="1600" dirty="0">
              <a:latin typeface="Montserrat" panose="00000500000000000000" pitchFamily="2" charset="0"/>
            </a:endParaRPr>
          </a:p>
          <a:p>
            <a:pPr lvl="1"/>
            <a:r>
              <a:rPr lang="en-ID" sz="1600" dirty="0" err="1">
                <a:latin typeface="Montserrat" panose="00000500000000000000" pitchFamily="2" charset="0"/>
              </a:rPr>
              <a:t>Perangkat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tambahan</a:t>
            </a:r>
            <a:endParaRPr lang="en-ID" sz="1600" dirty="0">
              <a:latin typeface="Montserrat" panose="00000500000000000000" pitchFamily="2" charset="0"/>
            </a:endParaRPr>
          </a:p>
          <a:p>
            <a:pPr lvl="1"/>
            <a:r>
              <a:rPr lang="en-ID" sz="1600" i="1" dirty="0">
                <a:latin typeface="Montserrat" panose="00000500000000000000" pitchFamily="2" charset="0"/>
              </a:rPr>
              <a:t>Hardware </a:t>
            </a:r>
            <a:r>
              <a:rPr lang="en-ID" sz="1600" dirty="0">
                <a:latin typeface="Montserrat" panose="00000500000000000000" pitchFamily="2" charset="0"/>
              </a:rPr>
              <a:t>lama yang </a:t>
            </a:r>
            <a:r>
              <a:rPr lang="en-ID" sz="1600" dirty="0" err="1">
                <a:latin typeface="Montserrat" panose="00000500000000000000" pitchFamily="2" charset="0"/>
              </a:rPr>
              <a:t>tidak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lagi</a:t>
            </a:r>
            <a:r>
              <a:rPr lang="en-ID" sz="1600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dipakai</a:t>
            </a:r>
            <a:endParaRPr lang="en-ID" sz="1600" i="1" dirty="0">
              <a:latin typeface="Montserrat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>
                <a:latin typeface="Montserrat" panose="00000500000000000000" pitchFamily="2" charset="0"/>
              </a:rPr>
              <a:t>Apakah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i="1" dirty="0" err="1">
                <a:latin typeface="Montserrat" panose="00000500000000000000" pitchFamily="2" charset="0"/>
              </a:rPr>
              <a:t>Hardwares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setiap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Komputer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sama</a:t>
            </a:r>
            <a:r>
              <a:rPr lang="en-ID" sz="2000" dirty="0">
                <a:latin typeface="Montserrat" panose="00000500000000000000" pitchFamily="2" charset="0"/>
              </a:rPr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>
                <a:latin typeface="Montserrat" panose="00000500000000000000" pitchFamily="2" charset="0"/>
              </a:rPr>
              <a:t>Apakah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berbeda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i="1" dirty="0" err="1">
                <a:latin typeface="Montserrat" panose="00000500000000000000" pitchFamily="2" charset="0"/>
              </a:rPr>
              <a:t>Hardwares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Komputer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Dekstop</a:t>
            </a:r>
            <a:r>
              <a:rPr lang="en-ID" sz="2000" dirty="0">
                <a:latin typeface="Montserrat" panose="00000500000000000000" pitchFamily="2" charset="0"/>
              </a:rPr>
              <a:t> dan Laptop </a:t>
            </a:r>
            <a:r>
              <a:rPr lang="en-ID" sz="2000" dirty="0" err="1">
                <a:latin typeface="Montserrat" panose="00000500000000000000" pitchFamily="2" charset="0"/>
              </a:rPr>
              <a:t>atau</a:t>
            </a:r>
            <a:r>
              <a:rPr lang="en-ID" sz="2000" dirty="0">
                <a:latin typeface="Montserrat" panose="00000500000000000000" pitchFamily="2" charset="0"/>
              </a:rPr>
              <a:t> PC </a:t>
            </a:r>
            <a:r>
              <a:rPr lang="en-ID" sz="2000" dirty="0" err="1">
                <a:latin typeface="Montserrat" panose="00000500000000000000" pitchFamily="2" charset="0"/>
              </a:rPr>
              <a:t>lainnya</a:t>
            </a:r>
            <a:r>
              <a:rPr lang="en-ID" sz="2000" dirty="0">
                <a:latin typeface="Montserrat" panose="00000500000000000000" pitchFamily="2" charset="0"/>
              </a:rPr>
              <a:t>?</a:t>
            </a:r>
          </a:p>
          <a:p>
            <a:pPr marL="0" indent="0">
              <a:buNone/>
            </a:pPr>
            <a:endParaRPr lang="en-ID" sz="20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8407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2405</TotalTime>
  <Words>1066</Words>
  <Application>Microsoft Office PowerPoint</Application>
  <PresentationFormat>Widescreen</PresentationFormat>
  <Paragraphs>100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Montserrat</vt:lpstr>
      <vt:lpstr>Office Theme</vt:lpstr>
      <vt:lpstr>PowerPoint Presentation</vt:lpstr>
      <vt:lpstr>1. Casing</vt:lpstr>
      <vt:lpstr>2. Power Supply</vt:lpstr>
      <vt:lpstr>PowerPoint Presentation</vt:lpstr>
      <vt:lpstr>3. Motherboard (Papan Induk)</vt:lpstr>
      <vt:lpstr>PowerPoint Presentation</vt:lpstr>
      <vt:lpstr>4. Processor/CPU (Central Processing Unit)</vt:lpstr>
      <vt:lpstr>PowerPoint Presentation</vt:lpstr>
      <vt:lpstr>5. Heatsink/PC Cooler</vt:lpstr>
      <vt:lpstr>PowerPoint Presentation</vt:lpstr>
      <vt:lpstr>6. RAM (Random Access Memory)</vt:lpstr>
      <vt:lpstr>PowerPoint Presentation</vt:lpstr>
      <vt:lpstr>7. Hard Disk Drive (HDD)</vt:lpstr>
      <vt:lpstr>PowerPoint Presentation</vt:lpstr>
      <vt:lpstr>8. ROM (Read Only Memory)</vt:lpstr>
      <vt:lpstr>Expansion Card (Kartu Ekspansi)</vt:lpstr>
      <vt:lpstr>9. VGA (Video Graphic Array) Card</vt:lpstr>
      <vt:lpstr>10. Network Interface Card (NIC)/LAN (Local Area Network) Card atau Ethernet Card</vt:lpstr>
      <vt:lpstr>11. WLAN (Wireless Local Area Network) Card</vt:lpstr>
      <vt:lpstr>12. Sound Card</vt:lpstr>
      <vt:lpstr>PowerPoint Presentation</vt:lpstr>
      <vt:lpstr>PowerPoint Presentation</vt:lpstr>
      <vt:lpstr>13. Optical Drive</vt:lpstr>
      <vt:lpstr>PowerPoint Presentation</vt:lpstr>
      <vt:lpstr>14. Monitor</vt:lpstr>
      <vt:lpstr>15. Keyboard (Papan Ketik)</vt:lpstr>
      <vt:lpstr>16. Mouse (Tetikus)</vt:lpstr>
      <vt:lpstr>17. Uninterruptible Power Supply (UPS)</vt:lpstr>
      <vt:lpstr>18. Flash Disk</vt:lpstr>
      <vt:lpstr>19. Proyektor LCD</vt:lpstr>
      <vt:lpstr>20. Speaker</vt:lpstr>
      <vt:lpstr>21. Printer</vt:lpstr>
      <vt:lpstr>22. Webcam</vt:lpstr>
      <vt:lpstr>23. Microphone</vt:lpstr>
      <vt:lpstr>Pertanyaan Seputar Materi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ekyzupaldry@gmail.com</cp:lastModifiedBy>
  <cp:revision>1207</cp:revision>
  <dcterms:created xsi:type="dcterms:W3CDTF">2021-04-24T02:20:04Z</dcterms:created>
  <dcterms:modified xsi:type="dcterms:W3CDTF">2023-08-26T17:40:12Z</dcterms:modified>
</cp:coreProperties>
</file>