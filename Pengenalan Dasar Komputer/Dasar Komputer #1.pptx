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58" r:id="rId4"/>
    <p:sldId id="260" r:id="rId5"/>
    <p:sldId id="272" r:id="rId6"/>
    <p:sldId id="262" r:id="rId7"/>
    <p:sldId id="273" r:id="rId8"/>
    <p:sldId id="274" r:id="rId9"/>
    <p:sldId id="275" r:id="rId10"/>
    <p:sldId id="276" r:id="rId11"/>
    <p:sldId id="277" r:id="rId12"/>
    <p:sldId id="267" r:id="rId13"/>
    <p:sldId id="271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550" autoAdjust="0"/>
  </p:normalViewPr>
  <p:slideViewPr>
    <p:cSldViewPr snapToGrid="0">
      <p:cViewPr varScale="1">
        <p:scale>
          <a:sx n="60" d="100"/>
          <a:sy n="60" d="100"/>
        </p:scale>
        <p:origin x="10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umberbelajar.belajar.kemdikbud.go.id/sumberbelajar/tampil/SEJARAH-PERKEMBANGAN-TIK-2012/konten5.html" TargetMode="External"/><Relationship Id="rId3" Type="http://schemas.openxmlformats.org/officeDocument/2006/relationships/hyperlink" Target="https://id.wikipedia.org/wiki/Komputer" TargetMode="External"/><Relationship Id="rId7" Type="http://schemas.openxmlformats.org/officeDocument/2006/relationships/hyperlink" Target="https://tekno.kompas.com/read/2021/04/12/10480027/sejarah-komputer-dan-perkembangannya-dari-masa-ke-masa?page=al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Difference_engine" TargetMode="External"/><Relationship Id="rId5" Type="http://schemas.openxmlformats.org/officeDocument/2006/relationships/hyperlink" Target="https://qwords.com/blog/sejarah-komputer" TargetMode="External"/><Relationship Id="rId10" Type="http://schemas.openxmlformats.org/officeDocument/2006/relationships/hyperlink" Target="https://id.wikipedia.org/wiki/Ada_Lovelace" TargetMode="External"/><Relationship Id="rId4" Type="http://schemas.openxmlformats.org/officeDocument/2006/relationships/hyperlink" Target="https://id.wikipedia.org/wiki/Sejarah_komputer" TargetMode="External"/><Relationship Id="rId9" Type="http://schemas.openxmlformats.org/officeDocument/2006/relationships/hyperlink" Target="https://id.wikipedia.org/wiki/Charles_Babbage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6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3"/>
              </a:rPr>
              <a:t>https://id.wikipedia.org/wiki/Komputer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4"/>
              </a:rPr>
              <a:t>https://id.wikipedia.org/wiki/Sejarah_komputer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5"/>
              </a:rPr>
              <a:t>https://qwords.com/blog/sejarah-komputer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6"/>
              </a:rPr>
              <a:t>https://en.wikipedia.org/wiki/Difference_engine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7"/>
              </a:rPr>
              <a:t>https://tekno.kompas.com/read/2021/04/12/10480027/sejarah-komputer-dan-perkembangannya-dari-masa-ke-masa?page=all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8"/>
              </a:rPr>
              <a:t>https://sumberbelajar.belajar.kemdikbud.go.id/sumberbelajar/tampil/SEJARAH-PERKEMBANGAN-TIK-2012/konten5.html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9"/>
              </a:rPr>
              <a:t>https://id.wikipedia.org/wiki/Charles_Babbage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10"/>
              </a:rPr>
              <a:t>https://id.wikipedia.org/wiki/Ada_Lovelace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6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6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93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0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0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kern="1200" baseline="0" dirty="0">
              <a:solidFill>
                <a:schemeClr val="tx1"/>
              </a:solidFill>
              <a:effectLst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0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baseline="0" dirty="0">
              <a:solidFill>
                <a:schemeClr val="tx1"/>
              </a:solidFill>
              <a:effectLst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0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16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Difference_engin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Sejarah_kompute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C4ADC7-1002-44BA-A6AA-5A2A20AC6D49}"/>
              </a:ext>
            </a:extLst>
          </p:cNvPr>
          <p:cNvSpPr txBox="1"/>
          <p:nvPr/>
        </p:nvSpPr>
        <p:spPr>
          <a:xfrm>
            <a:off x="336119" y="3429000"/>
            <a:ext cx="54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Selamat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Datang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di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Siniar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3DBE4-3FE0-404F-9B04-95F629E81632}"/>
              </a:ext>
            </a:extLst>
          </p:cNvPr>
          <p:cNvSpPr txBox="1"/>
          <p:nvPr/>
        </p:nvSpPr>
        <p:spPr>
          <a:xfrm>
            <a:off x="344508" y="3698161"/>
            <a:ext cx="6862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THE ARTS OF EKY ZUPALDRY</a:t>
            </a:r>
          </a:p>
        </p:txBody>
      </p:sp>
    </p:spTree>
    <p:extLst>
      <p:ext uri="{BB962C8B-B14F-4D97-AF65-F5344CB8AC3E}">
        <p14:creationId xmlns:p14="http://schemas.microsoft.com/office/powerpoint/2010/main" val="2541699078"/>
      </p:ext>
    </p:extLst>
  </p:cSld>
  <p:clrMapOvr>
    <a:masterClrMapping/>
  </p:clrMapOvr>
  <p:transition spd="slow" advTm="22065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rev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3854064" y="3429000"/>
            <a:ext cx="4483872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#1 INTRO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|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KENALAN AJA DULU</a:t>
            </a: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1F62-4811-41BC-9AF6-BABC4C33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Apa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itu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Komputer</a:t>
            </a:r>
            <a:r>
              <a:rPr lang="en-US" sz="3000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81A685-8C51-425B-878E-E5F4CCA37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4" y="1673225"/>
            <a:ext cx="10887075" cy="4351338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adalah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perangkat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elektronik</a:t>
            </a:r>
            <a:r>
              <a:rPr lang="en-US" sz="1800" dirty="0">
                <a:latin typeface="Montserrat" panose="00000500000000000000" pitchFamily="2" charset="0"/>
              </a:rPr>
              <a:t> yang </a:t>
            </a:r>
            <a:r>
              <a:rPr lang="en-US" sz="1800" dirty="0" err="1">
                <a:latin typeface="Montserrat" panose="00000500000000000000" pitchFamily="2" charset="0"/>
              </a:rPr>
              <a:t>digunakan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untuk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mengolah</a:t>
            </a:r>
            <a:r>
              <a:rPr lang="en-US" sz="1800" dirty="0">
                <a:latin typeface="Montserrat" panose="00000500000000000000" pitchFamily="2" charset="0"/>
              </a:rPr>
              <a:t> data </a:t>
            </a:r>
            <a:r>
              <a:rPr lang="en-US" sz="1800" dirty="0" err="1">
                <a:latin typeface="Montserrat" panose="00000500000000000000" pitchFamily="2" charset="0"/>
              </a:rPr>
              <a:t>dan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informasi</a:t>
            </a:r>
            <a:endParaRPr lang="en-US" sz="1800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9690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13E96C-791A-43CE-B8ED-BC88F2DE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anose="00000500000000000000" pitchFamily="2" charset="0"/>
              </a:rPr>
              <a:t>Sejarah </a:t>
            </a:r>
            <a:r>
              <a:rPr lang="en-US" sz="3000" dirty="0" err="1">
                <a:latin typeface="Montserrat" panose="00000500000000000000" pitchFamily="2" charset="0"/>
              </a:rPr>
              <a:t>Singkat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6FE79C-0F59-4FE8-B4B6-D123D44A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pertama</a:t>
            </a:r>
            <a:r>
              <a:rPr lang="en-US" sz="1800" dirty="0">
                <a:latin typeface="Montserrat" panose="00000500000000000000" pitchFamily="2" charset="0"/>
              </a:rPr>
              <a:t> kali </a:t>
            </a:r>
            <a:r>
              <a:rPr lang="en-US" sz="1800" dirty="0" err="1">
                <a:latin typeface="Montserrat" panose="00000500000000000000" pitchFamily="2" charset="0"/>
              </a:rPr>
              <a:t>ditemukan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pada</a:t>
            </a:r>
            <a:r>
              <a:rPr lang="en-US" sz="1800" dirty="0">
                <a:latin typeface="Montserrat" panose="00000500000000000000" pitchFamily="2" charset="0"/>
              </a:rPr>
              <a:t> 1822 </a:t>
            </a:r>
            <a:r>
              <a:rPr lang="en-US" sz="1800" dirty="0" err="1">
                <a:latin typeface="Montserrat" panose="00000500000000000000" pitchFamily="2" charset="0"/>
              </a:rPr>
              <a:t>oleh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seorang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ahli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matematika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asal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Inggris</a:t>
            </a:r>
            <a:r>
              <a:rPr lang="en-US" sz="1800" dirty="0">
                <a:latin typeface="Montserrat" panose="00000500000000000000" pitchFamily="2" charset="0"/>
              </a:rPr>
              <a:t> yang </a:t>
            </a:r>
            <a:r>
              <a:rPr lang="en-US" sz="1800" dirty="0" err="1">
                <a:latin typeface="Montserrat" panose="00000500000000000000" pitchFamily="2" charset="0"/>
              </a:rPr>
              <a:t>bernama</a:t>
            </a:r>
            <a:r>
              <a:rPr lang="en-US" sz="1800" dirty="0">
                <a:latin typeface="Montserrat" panose="00000500000000000000" pitchFamily="2" charset="0"/>
              </a:rPr>
              <a:t> Charles Babbage</a:t>
            </a:r>
          </a:p>
          <a:p>
            <a:r>
              <a:rPr lang="en-US" sz="1800" dirty="0" err="1">
                <a:latin typeface="Montserrat" panose="00000500000000000000" pitchFamily="2" charset="0"/>
              </a:rPr>
              <a:t>Mesin</a:t>
            </a:r>
            <a:r>
              <a:rPr lang="en-US" sz="1800" dirty="0">
                <a:latin typeface="Montserrat" panose="00000500000000000000" pitchFamily="2" charset="0"/>
              </a:rPr>
              <a:t> yang </a:t>
            </a:r>
            <a:r>
              <a:rPr lang="en-US" sz="1800" dirty="0" err="1">
                <a:latin typeface="Montserrat" panose="00000500000000000000" pitchFamily="2" charset="0"/>
              </a:rPr>
              <a:t>ditemukan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tersebut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diberi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nama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i="1" dirty="0">
                <a:latin typeface="Montserrat" panose="00000500000000000000" pitchFamily="2" charset="0"/>
              </a:rPr>
              <a:t>“Difference Engine 0” </a:t>
            </a:r>
          </a:p>
          <a:p>
            <a:pPr marL="0" indent="0">
              <a:buNone/>
            </a:pPr>
            <a:endParaRPr lang="en-US" sz="1800" i="1" dirty="0">
              <a:latin typeface="Montserrat" panose="00000500000000000000" pitchFamily="2" charset="0"/>
            </a:endParaRPr>
          </a:p>
          <a:p>
            <a:endParaRPr lang="en-US" sz="1800" i="1" dirty="0">
              <a:latin typeface="Montserrat" panose="00000500000000000000" pitchFamily="2" charset="0"/>
            </a:endParaRPr>
          </a:p>
          <a:p>
            <a:endParaRPr lang="en-US" sz="1800" i="1" dirty="0">
              <a:latin typeface="Montserrat" panose="00000500000000000000" pitchFamily="2" charset="0"/>
            </a:endParaRPr>
          </a:p>
          <a:p>
            <a:endParaRPr lang="en-US" sz="1800" i="1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4" y="2803524"/>
            <a:ext cx="4552951" cy="3293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AD809E-A651-458A-A458-0E19E7FA76F2}"/>
              </a:ext>
            </a:extLst>
          </p:cNvPr>
          <p:cNvSpPr txBox="1"/>
          <p:nvPr/>
        </p:nvSpPr>
        <p:spPr>
          <a:xfrm>
            <a:off x="1209674" y="6243272"/>
            <a:ext cx="59227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https://en.wikipedia.org/wiki/Difference_engine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127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13E96C-791A-43CE-B8ED-BC88F2DE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anose="00000500000000000000" pitchFamily="2" charset="0"/>
              </a:rPr>
              <a:t>Sejarah </a:t>
            </a:r>
            <a:r>
              <a:rPr lang="en-US" sz="3000" dirty="0" err="1">
                <a:latin typeface="Montserrat" panose="00000500000000000000" pitchFamily="2" charset="0"/>
              </a:rPr>
              <a:t>Singkat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6FE79C-0F59-4FE8-B4B6-D123D44A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anose="00000500000000000000" pitchFamily="2" charset="0"/>
              </a:rPr>
              <a:t>10 </a:t>
            </a:r>
            <a:r>
              <a:rPr lang="en-US" sz="1800" dirty="0" err="1">
                <a:latin typeface="Montserrat" panose="00000500000000000000" pitchFamily="2" charset="0"/>
              </a:rPr>
              <a:t>tahun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kemudian</a:t>
            </a:r>
            <a:r>
              <a:rPr lang="en-US" sz="1800" dirty="0">
                <a:latin typeface="Montserrat" panose="00000500000000000000" pitchFamily="2" charset="0"/>
              </a:rPr>
              <a:t>, </a:t>
            </a:r>
            <a:r>
              <a:rPr lang="en-US" sz="1800" dirty="0" err="1">
                <a:latin typeface="Montserrat" panose="00000500000000000000" pitchFamily="2" charset="0"/>
              </a:rPr>
              <a:t>dia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membuat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i="1" dirty="0">
                <a:latin typeface="Montserrat" panose="00000500000000000000" pitchFamily="2" charset="0"/>
              </a:rPr>
              <a:t>“Difference Engine 1”</a:t>
            </a:r>
          </a:p>
          <a:p>
            <a:r>
              <a:rPr lang="en-US" sz="1800" dirty="0">
                <a:latin typeface="Montserrat" panose="00000500000000000000" pitchFamily="2" charset="0"/>
              </a:rPr>
              <a:t>Charles Babbage </a:t>
            </a:r>
            <a:r>
              <a:rPr lang="en-US" sz="1800" dirty="0" err="1">
                <a:latin typeface="Montserrat" panose="00000500000000000000" pitchFamily="2" charset="0"/>
              </a:rPr>
              <a:t>mulai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merancang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suatu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sistem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bernama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i="1" dirty="0">
                <a:latin typeface="Montserrat" panose="00000500000000000000" pitchFamily="2" charset="0"/>
              </a:rPr>
              <a:t>“Analytical Engine”</a:t>
            </a:r>
          </a:p>
          <a:p>
            <a:r>
              <a:rPr lang="en-US" sz="1800" dirty="0">
                <a:latin typeface="Montserrat" panose="00000500000000000000" pitchFamily="2" charset="0"/>
              </a:rPr>
              <a:t>Charles Babbage </a:t>
            </a:r>
            <a:r>
              <a:rPr lang="en-US" sz="1800" dirty="0" err="1">
                <a:latin typeface="Montserrat" panose="00000500000000000000" pitchFamily="2" charset="0"/>
              </a:rPr>
              <a:t>bertemu</a:t>
            </a:r>
            <a:r>
              <a:rPr lang="en-US" sz="1800" dirty="0">
                <a:latin typeface="Montserrat" panose="00000500000000000000" pitchFamily="2" charset="0"/>
              </a:rPr>
              <a:t> Ada Lovelace yang juga </a:t>
            </a:r>
            <a:r>
              <a:rPr lang="en-US" sz="1800" dirty="0" err="1">
                <a:latin typeface="Montserrat" panose="00000500000000000000" pitchFamily="2" charset="0"/>
              </a:rPr>
              <a:t>seorang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ahli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matematika</a:t>
            </a:r>
            <a:endParaRPr lang="en-US" sz="1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35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F1DC-2772-4888-B285-75D1A377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0"/>
            <a:ext cx="4956208" cy="1325563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Perkembangan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D809E-A651-458A-A458-0E19E7FA76F2}"/>
              </a:ext>
            </a:extLst>
          </p:cNvPr>
          <p:cNvSpPr txBox="1"/>
          <p:nvPr/>
        </p:nvSpPr>
        <p:spPr>
          <a:xfrm>
            <a:off x="542925" y="5964690"/>
            <a:ext cx="59227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https://id.wikipedia.org/wiki/Sejarah_komputer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978522"/>
            <a:ext cx="4571999" cy="4841253"/>
          </a:xfrm>
        </p:spPr>
      </p:pic>
      <p:sp>
        <p:nvSpPr>
          <p:cNvPr id="8" name="TextBox 7"/>
          <p:cNvSpPr txBox="1"/>
          <p:nvPr/>
        </p:nvSpPr>
        <p:spPr>
          <a:xfrm>
            <a:off x="5467351" y="1609725"/>
            <a:ext cx="672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ontserrat" pitchFamily="2" charset="0"/>
              </a:rPr>
              <a:t>E</a:t>
            </a:r>
            <a:r>
              <a:rPr lang="en-US" dirty="0">
                <a:latin typeface="Montserrat" pitchFamily="2" charset="0"/>
              </a:rPr>
              <a:t>lectronic </a:t>
            </a:r>
            <a:r>
              <a:rPr lang="en-US" b="1" dirty="0">
                <a:latin typeface="Montserrat" pitchFamily="2" charset="0"/>
              </a:rPr>
              <a:t>N</a:t>
            </a:r>
            <a:r>
              <a:rPr lang="en-US" dirty="0">
                <a:latin typeface="Montserrat" pitchFamily="2" charset="0"/>
              </a:rPr>
              <a:t>umerical </a:t>
            </a:r>
            <a:r>
              <a:rPr lang="en-US" b="1" dirty="0">
                <a:latin typeface="Montserrat" pitchFamily="2" charset="0"/>
              </a:rPr>
              <a:t>I</a:t>
            </a:r>
            <a:r>
              <a:rPr lang="en-US" dirty="0">
                <a:latin typeface="Montserrat" pitchFamily="2" charset="0"/>
              </a:rPr>
              <a:t>ntegrator </a:t>
            </a:r>
            <a:r>
              <a:rPr lang="en-US" b="1" dirty="0">
                <a:latin typeface="Montserrat" pitchFamily="2" charset="0"/>
              </a:rPr>
              <a:t>A</a:t>
            </a:r>
            <a:r>
              <a:rPr lang="en-US" dirty="0">
                <a:latin typeface="Montserrat" pitchFamily="2" charset="0"/>
              </a:rPr>
              <a:t>nd </a:t>
            </a:r>
            <a:r>
              <a:rPr lang="en-US" b="1" dirty="0">
                <a:latin typeface="Montserrat" pitchFamily="2" charset="0"/>
              </a:rPr>
              <a:t>C</a:t>
            </a:r>
            <a:r>
              <a:rPr lang="en-US" dirty="0">
                <a:latin typeface="Montserrat" pitchFamily="2" charset="0"/>
              </a:rPr>
              <a:t>omputer (</a:t>
            </a:r>
            <a:r>
              <a:rPr lang="en-US" b="1" dirty="0">
                <a:latin typeface="Montserrat" pitchFamily="2" charset="0"/>
              </a:rPr>
              <a:t>ENIAC</a:t>
            </a:r>
            <a:r>
              <a:rPr lang="en-US" dirty="0">
                <a:latin typeface="Montserrat" pitchFamily="2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B7CD0-D257-4BC2-A024-FB7B8E07D8FC}"/>
              </a:ext>
            </a:extLst>
          </p:cNvPr>
          <p:cNvSpPr txBox="1"/>
          <p:nvPr/>
        </p:nvSpPr>
        <p:spPr>
          <a:xfrm>
            <a:off x="5467351" y="2312781"/>
            <a:ext cx="672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Hasil </a:t>
            </a:r>
            <a:r>
              <a:rPr lang="en-US" dirty="0" err="1">
                <a:latin typeface="Montserrat" pitchFamily="2" charset="0"/>
              </a:rPr>
              <a:t>kerja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sama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antara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pemerintah</a:t>
            </a:r>
            <a:r>
              <a:rPr lang="en-US" dirty="0">
                <a:latin typeface="Montserrat" pitchFamily="2" charset="0"/>
              </a:rPr>
              <a:t> Amerika </a:t>
            </a:r>
            <a:r>
              <a:rPr lang="en-US" dirty="0" err="1">
                <a:latin typeface="Montserrat" pitchFamily="2" charset="0"/>
              </a:rPr>
              <a:t>Serikat</a:t>
            </a:r>
            <a:r>
              <a:rPr lang="en-US" dirty="0">
                <a:latin typeface="Montserrat" pitchFamily="2" charset="0"/>
              </a:rPr>
              <a:t> &amp; </a:t>
            </a:r>
            <a:r>
              <a:rPr lang="en-US" dirty="0" err="1">
                <a:latin typeface="Montserrat" pitchFamily="2" charset="0"/>
              </a:rPr>
              <a:t>Universitas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Pensylvania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77103-F673-46DB-A8A4-6DA432ED7BBB}"/>
              </a:ext>
            </a:extLst>
          </p:cNvPr>
          <p:cNvSpPr txBox="1"/>
          <p:nvPr/>
        </p:nvSpPr>
        <p:spPr>
          <a:xfrm>
            <a:off x="5467351" y="3253085"/>
            <a:ext cx="6724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Terdiri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itchFamily="2" charset="0"/>
              </a:rPr>
              <a:t>18.000 </a:t>
            </a:r>
            <a:r>
              <a:rPr lang="en-US" dirty="0" err="1">
                <a:latin typeface="Montserrat" pitchFamily="2" charset="0"/>
              </a:rPr>
              <a:t>Tabung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Vakum</a:t>
            </a:r>
            <a:endParaRPr lang="en-US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itchFamily="2" charset="0"/>
              </a:rPr>
              <a:t>70.000 Resistor, dan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itchFamily="2" charset="0"/>
              </a:rPr>
              <a:t>5.000.000 </a:t>
            </a:r>
            <a:r>
              <a:rPr lang="en-US" dirty="0" err="1">
                <a:latin typeface="Montserrat" pitchFamily="2" charset="0"/>
              </a:rPr>
              <a:t>Titik</a:t>
            </a:r>
            <a:r>
              <a:rPr lang="en-US" dirty="0">
                <a:latin typeface="Montserrat" pitchFamily="2" charset="0"/>
              </a:rPr>
              <a:t> Solder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itchFamily="2" charset="0"/>
              </a:rPr>
              <a:t>Mengonsumsi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sebesar</a:t>
            </a:r>
            <a:r>
              <a:rPr lang="en-US" dirty="0">
                <a:latin typeface="Montserrat" pitchFamily="2" charset="0"/>
              </a:rPr>
              <a:t> 160kW</a:t>
            </a:r>
          </a:p>
        </p:txBody>
      </p:sp>
    </p:spTree>
    <p:extLst>
      <p:ext uri="{BB962C8B-B14F-4D97-AF65-F5344CB8AC3E}">
        <p14:creationId xmlns:p14="http://schemas.microsoft.com/office/powerpoint/2010/main" val="11949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Generasi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itchFamily="2" charset="0"/>
              </a:rPr>
              <a:t>P</a:t>
            </a:r>
            <a:r>
              <a:rPr lang="en-US" sz="3000" dirty="0" err="1">
                <a:latin typeface="Montserrat" pitchFamily="2" charset="0"/>
              </a:rPr>
              <a:t>ertama</a:t>
            </a:r>
            <a:r>
              <a:rPr lang="en-US" sz="3000" dirty="0">
                <a:latin typeface="Montserrat" pitchFamily="2" charset="0"/>
              </a:rPr>
              <a:t> (1940-1959)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Pertama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dibuat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tabung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vakum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tujuan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pembuatannya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keperluan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militer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04859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Generasi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itchFamily="2" charset="0"/>
              </a:rPr>
              <a:t>K</a:t>
            </a:r>
            <a:r>
              <a:rPr lang="en-US" sz="3000" dirty="0" err="1">
                <a:latin typeface="Montserrat" pitchFamily="2" charset="0"/>
              </a:rPr>
              <a:t>edua</a:t>
            </a:r>
            <a:r>
              <a:rPr lang="en-US" sz="3000" dirty="0">
                <a:latin typeface="Montserrat" pitchFamily="2" charset="0"/>
              </a:rPr>
              <a:t> (1959-1965)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Kedua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dibuat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>
                <a:latin typeface="Montserrat" pitchFamily="2" charset="0"/>
              </a:rPr>
              <a:t>transistor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menggantikan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tabung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vakum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mulai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diperkenalkan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komersial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319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Generasi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itchFamily="2" charset="0"/>
              </a:rPr>
              <a:t>K</a:t>
            </a:r>
            <a:r>
              <a:rPr lang="en-US" sz="3000" dirty="0" err="1">
                <a:latin typeface="Montserrat" pitchFamily="2" charset="0"/>
              </a:rPr>
              <a:t>etiga</a:t>
            </a:r>
            <a:r>
              <a:rPr lang="en-US" sz="3000" dirty="0">
                <a:latin typeface="Montserrat" pitchFamily="2" charset="0"/>
              </a:rPr>
              <a:t> (1965-1970)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Ketiga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dibuat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transistor yang </a:t>
            </a:r>
            <a:r>
              <a:rPr lang="en-US" sz="1800" dirty="0" err="1">
                <a:latin typeface="Montserrat" pitchFamily="2" charset="0"/>
              </a:rPr>
              <a:t>bentuknya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diperkecil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kemudian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diletakkan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IC </a:t>
            </a:r>
            <a:r>
              <a:rPr lang="en-US" sz="1800" i="1" dirty="0">
                <a:latin typeface="Montserrat" pitchFamily="2" charset="0"/>
              </a:rPr>
              <a:t>(Integrated Circuit) </a:t>
            </a:r>
            <a:r>
              <a:rPr lang="en-US" sz="1800" dirty="0" err="1">
                <a:latin typeface="Montserrat" pitchFamily="2" charset="0"/>
              </a:rPr>
              <a:t>bersama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beberapa</a:t>
            </a:r>
            <a:r>
              <a:rPr lang="en-US" sz="1800" dirty="0">
                <a:latin typeface="Montserrat" pitchFamily="2" charset="0"/>
              </a:rPr>
              <a:t> resistor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kapasitor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juga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pertama</a:t>
            </a:r>
            <a:r>
              <a:rPr lang="en-US" sz="1800" dirty="0">
                <a:latin typeface="Montserrat" pitchFamily="2" charset="0"/>
              </a:rPr>
              <a:t> kali </a:t>
            </a:r>
            <a:r>
              <a:rPr lang="en-US" sz="1800" dirty="0" err="1">
                <a:latin typeface="Montserrat" pitchFamily="2" charset="0"/>
              </a:rPr>
              <a:t>menggunakan</a:t>
            </a:r>
            <a:r>
              <a:rPr lang="en-US" sz="1800" dirty="0">
                <a:latin typeface="Montserrat" pitchFamily="2" charset="0"/>
              </a:rPr>
              <a:t> monitor &amp; keyboard</a:t>
            </a:r>
          </a:p>
        </p:txBody>
      </p:sp>
    </p:spTree>
    <p:extLst>
      <p:ext uri="{BB962C8B-B14F-4D97-AF65-F5344CB8AC3E}">
        <p14:creationId xmlns:p14="http://schemas.microsoft.com/office/powerpoint/2010/main" val="25567483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Generasi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itchFamily="2" charset="0"/>
              </a:rPr>
              <a:t>K</a:t>
            </a:r>
            <a:r>
              <a:rPr lang="en-US" sz="3000" dirty="0" err="1">
                <a:latin typeface="Montserrat" pitchFamily="2" charset="0"/>
              </a:rPr>
              <a:t>eempat</a:t>
            </a:r>
            <a:r>
              <a:rPr lang="en-US" sz="3000" dirty="0">
                <a:latin typeface="Montserrat" pitchFamily="2" charset="0"/>
              </a:rPr>
              <a:t> (1970-sekarang)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Keempat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dibuat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>
                <a:latin typeface="Montserrat" pitchFamily="2" charset="0"/>
              </a:rPr>
              <a:t>microprocessor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merupakan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pengembangan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IC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mengontrol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kerja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Central Processing Unit</a:t>
            </a:r>
            <a:r>
              <a:rPr lang="en-US" sz="1800" dirty="0">
                <a:latin typeface="Montserrat" pitchFamily="2" charset="0"/>
              </a:rPr>
              <a:t> (CPU)</a:t>
            </a:r>
          </a:p>
          <a:p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ini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mulai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dikenal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istilah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Personal Computer</a:t>
            </a:r>
            <a:r>
              <a:rPr lang="en-US" sz="1800" dirty="0">
                <a:latin typeface="Montserrat" pitchFamily="2" charset="0"/>
              </a:rPr>
              <a:t> (PC)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rumahan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Laptop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smartphone </a:t>
            </a:r>
            <a:r>
              <a:rPr lang="en-US" sz="1800" dirty="0" err="1">
                <a:latin typeface="Montserrat" pitchFamily="2" charset="0"/>
              </a:rPr>
              <a:t>muncul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berkembang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pesat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0404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Generasi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 err="1">
                <a:latin typeface="Montserrat" pitchFamily="2" charset="0"/>
              </a:rPr>
              <a:t>K</a:t>
            </a:r>
            <a:r>
              <a:rPr lang="en-US" sz="3000" dirty="0" err="1">
                <a:latin typeface="Montserrat" pitchFamily="2" charset="0"/>
              </a:rPr>
              <a:t>elima</a:t>
            </a:r>
            <a:r>
              <a:rPr lang="en-US" sz="3000" dirty="0">
                <a:latin typeface="Montserrat" pitchFamily="2" charset="0"/>
              </a:rPr>
              <a:t> (</a:t>
            </a:r>
            <a:r>
              <a:rPr lang="en-US" sz="3000" dirty="0" err="1">
                <a:latin typeface="Montserrat" pitchFamily="2" charset="0"/>
              </a:rPr>
              <a:t>sekarang-masa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depan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Kelima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disebut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juga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generasi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Artificial Intelligence</a:t>
            </a:r>
            <a:r>
              <a:rPr lang="en-US" sz="1800" dirty="0">
                <a:latin typeface="Montserrat" pitchFamily="2" charset="0"/>
              </a:rPr>
              <a:t> (AI) </a:t>
            </a:r>
            <a:r>
              <a:rPr lang="en-US" sz="1800" dirty="0" err="1">
                <a:latin typeface="Montserrat" pitchFamily="2" charset="0"/>
              </a:rPr>
              <a:t>atau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kecerdasan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buatan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  :</a:t>
            </a:r>
          </a:p>
          <a:p>
            <a:pPr lvl="1"/>
            <a:r>
              <a:rPr lang="en-US" sz="1400" dirty="0">
                <a:latin typeface="Montserrat" pitchFamily="2" charset="0"/>
              </a:rPr>
              <a:t>Robot</a:t>
            </a:r>
          </a:p>
          <a:p>
            <a:pPr lvl="1"/>
            <a:r>
              <a:rPr lang="en-US" sz="1400" dirty="0" err="1">
                <a:latin typeface="Montserrat" pitchFamily="2" charset="0"/>
              </a:rPr>
              <a:t>Chatbot</a:t>
            </a:r>
            <a:endParaRPr lang="en-US" sz="1400" dirty="0">
              <a:latin typeface="Montserrat" pitchFamily="2" charset="0"/>
            </a:endParaRPr>
          </a:p>
          <a:p>
            <a:pPr lvl="1"/>
            <a:r>
              <a:rPr lang="en-US" sz="1400" dirty="0" err="1">
                <a:latin typeface="Montserrat" pitchFamily="2" charset="0"/>
              </a:rPr>
              <a:t>Asisten</a:t>
            </a:r>
            <a:r>
              <a:rPr lang="en-US" sz="1400" dirty="0">
                <a:latin typeface="Montserrat" pitchFamily="2" charset="0"/>
              </a:rPr>
              <a:t> Virtual </a:t>
            </a:r>
            <a:r>
              <a:rPr lang="en-US" sz="1400" dirty="0" err="1">
                <a:latin typeface="Montserrat" pitchFamily="2" charset="0"/>
              </a:rPr>
              <a:t>seperti</a:t>
            </a:r>
            <a:r>
              <a:rPr lang="en-US" sz="1400" dirty="0">
                <a:latin typeface="Montserrat" pitchFamily="2" charset="0"/>
              </a:rPr>
              <a:t> </a:t>
            </a:r>
            <a:r>
              <a:rPr lang="en-US" sz="1400" i="1" dirty="0">
                <a:latin typeface="Montserrat" pitchFamily="2" charset="0"/>
              </a:rPr>
              <a:t>Google </a:t>
            </a:r>
            <a:r>
              <a:rPr lang="en-US" sz="1400" i="1" dirty="0" err="1">
                <a:latin typeface="Montserrat" pitchFamily="2" charset="0"/>
              </a:rPr>
              <a:t>Asistant</a:t>
            </a:r>
            <a:endParaRPr lang="en-US" sz="1400" i="1" dirty="0">
              <a:latin typeface="Montserrat" pitchFamily="2" charset="0"/>
            </a:endParaRPr>
          </a:p>
          <a:p>
            <a:pPr lvl="1"/>
            <a:r>
              <a:rPr lang="en-US" sz="1400" dirty="0" err="1">
                <a:latin typeface="Montserrat" pitchFamily="2" charset="0"/>
              </a:rPr>
              <a:t>dll</a:t>
            </a:r>
            <a:endParaRPr lang="en-US" sz="14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723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977B-AE4F-41BA-A748-CBCDD4D3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Kenapa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harus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belajar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Komputer</a:t>
            </a:r>
            <a:r>
              <a:rPr lang="en-US" sz="3000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667" y="3005493"/>
            <a:ext cx="4668266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latin typeface="Montserrat" panose="00000500000000000000" pitchFamily="2" charset="0"/>
              </a:rPr>
              <a:t>“</a:t>
            </a:r>
            <a:r>
              <a:rPr lang="en-US" sz="2800" dirty="0" err="1">
                <a:latin typeface="Montserrat" panose="00000500000000000000" pitchFamily="2" charset="0"/>
              </a:rPr>
              <a:t>Perkembangan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Zaman</a:t>
            </a:r>
            <a:r>
              <a:rPr lang="en-US" sz="2800" dirty="0">
                <a:latin typeface="Montserrat" panose="00000500000000000000" pitchFamily="2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1188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Kenapa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harus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belajar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Komputer</a:t>
            </a:r>
            <a:r>
              <a:rPr lang="en-US" sz="3000" dirty="0">
                <a:latin typeface="Montserrat" panose="00000500000000000000" pitchFamily="2" charset="0"/>
              </a:rPr>
              <a:t>?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Montserrat" panose="00000500000000000000" pitchFamily="2" charset="0"/>
              </a:rPr>
              <a:t>Banyak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hal</a:t>
            </a:r>
            <a:r>
              <a:rPr lang="en-US" sz="1800" dirty="0">
                <a:latin typeface="Montserrat" panose="00000500000000000000" pitchFamily="2" charset="0"/>
              </a:rPr>
              <a:t> yang </a:t>
            </a:r>
            <a:r>
              <a:rPr lang="en-US" sz="1800" dirty="0" err="1">
                <a:latin typeface="Montserrat" panose="00000500000000000000" pitchFamily="2" charset="0"/>
              </a:rPr>
              <a:t>saat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ini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dikerjakan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menggunakan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i="1" dirty="0" err="1">
                <a:latin typeface="Montserrat" panose="00000500000000000000" pitchFamily="2" charset="0"/>
              </a:rPr>
              <a:t>memudahkan</a:t>
            </a:r>
            <a:r>
              <a:rPr lang="en-US" sz="1800" dirty="0">
                <a:latin typeface="Montserrat" panose="00000500000000000000" pitchFamily="2" charset="0"/>
              </a:rPr>
              <a:t> &amp; </a:t>
            </a:r>
            <a:r>
              <a:rPr lang="en-US" sz="1800" i="1" dirty="0" err="1">
                <a:latin typeface="Montserrat" panose="00000500000000000000" pitchFamily="2" charset="0"/>
              </a:rPr>
              <a:t>mempersingkat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waktu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kita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saat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bekerja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</a:p>
          <a:p>
            <a:r>
              <a:rPr lang="en-US" sz="1800" dirty="0">
                <a:latin typeface="Montserrat" panose="00000500000000000000" pitchFamily="2" charset="0"/>
              </a:rPr>
              <a:t>Tutorial </a:t>
            </a:r>
            <a:r>
              <a:rPr lang="en-US" sz="1800" dirty="0" err="1">
                <a:latin typeface="Montserrat" panose="00000500000000000000" pitchFamily="2" charset="0"/>
              </a:rPr>
              <a:t>mudah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dicari</a:t>
            </a:r>
            <a:r>
              <a:rPr lang="en-US" sz="1800" dirty="0">
                <a:latin typeface="Montserrat" panose="00000500000000000000" pitchFamily="2" charset="0"/>
              </a:rPr>
              <a:t> (</a:t>
            </a:r>
            <a:r>
              <a:rPr lang="en-US" sz="1800" dirty="0" err="1">
                <a:latin typeface="Montserrat" panose="00000500000000000000" pitchFamily="2" charset="0"/>
              </a:rPr>
              <a:t>berbayar</a:t>
            </a:r>
            <a:r>
              <a:rPr lang="en-US" sz="1800" dirty="0">
                <a:latin typeface="Montserrat" panose="00000500000000000000" pitchFamily="2" charset="0"/>
              </a:rPr>
              <a:t>/gratis) </a:t>
            </a:r>
          </a:p>
          <a:p>
            <a:r>
              <a:rPr lang="en-US" sz="1800" dirty="0" err="1">
                <a:latin typeface="Montserrat" panose="00000500000000000000" pitchFamily="2" charset="0"/>
              </a:rPr>
              <a:t>Komunitas</a:t>
            </a:r>
            <a:r>
              <a:rPr lang="en-US" sz="1800" dirty="0">
                <a:latin typeface="Montserrat" panose="00000500000000000000" pitchFamily="2" charset="0"/>
              </a:rPr>
              <a:t> yang </a:t>
            </a:r>
            <a:r>
              <a:rPr lang="en-US" sz="1800" dirty="0" err="1">
                <a:latin typeface="Montserrat" panose="00000500000000000000" pitchFamily="2" charset="0"/>
              </a:rPr>
              <a:t>banyak</a:t>
            </a:r>
            <a:r>
              <a:rPr lang="en-US" sz="1800" dirty="0">
                <a:latin typeface="Montserrat" panose="00000500000000000000" pitchFamily="2" charset="0"/>
              </a:rPr>
              <a:t> (offline/online)</a:t>
            </a:r>
          </a:p>
          <a:p>
            <a:r>
              <a:rPr lang="en-US" sz="1800" dirty="0">
                <a:latin typeface="Montserrat" panose="00000500000000000000" pitchFamily="2" charset="0"/>
              </a:rPr>
              <a:t>Dan </a:t>
            </a:r>
            <a:r>
              <a:rPr lang="en-US" sz="1800" dirty="0" err="1">
                <a:latin typeface="Montserrat" panose="00000500000000000000" pitchFamily="2" charset="0"/>
              </a:rPr>
              <a:t>masih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banyak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u="sng" dirty="0" err="1">
                <a:latin typeface="Montserrat" panose="00000500000000000000" pitchFamily="2" charset="0"/>
              </a:rPr>
              <a:t>alasan</a:t>
            </a:r>
            <a:r>
              <a:rPr lang="en-US" sz="1800" u="sng">
                <a:latin typeface="Montserrat" panose="00000500000000000000" pitchFamily="2" charset="0"/>
              </a:rPr>
              <a:t> lain</a:t>
            </a:r>
            <a:r>
              <a:rPr lang="en-US" sz="1800">
                <a:latin typeface="Montserrat" panose="00000500000000000000" pitchFamily="2" charset="0"/>
              </a:rPr>
              <a:t> </a:t>
            </a:r>
            <a:r>
              <a:rPr lang="en-US" sz="1800" dirty="0">
                <a:latin typeface="Montserrat" panose="00000500000000000000" pitchFamily="2" charset="0"/>
              </a:rPr>
              <a:t>yang </a:t>
            </a:r>
            <a:r>
              <a:rPr lang="en-US" sz="1800" dirty="0" err="1">
                <a:latin typeface="Montserrat" panose="00000500000000000000" pitchFamily="2" charset="0"/>
              </a:rPr>
              <a:t>nanti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akan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kita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ketahui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saat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menggunakannya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36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2C4D-56E6-40A9-BA4C-A95AB236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Materi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06C68-6B12-4845-8920-F6F3B6E61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725" y="1810572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latin typeface="Montserrat" panose="00000500000000000000" pitchFamily="2" charset="0"/>
              </a:rPr>
              <a:t>Mengenal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latin typeface="Montserrat" panose="00000500000000000000" pitchFamily="2" charset="0"/>
              </a:rPr>
              <a:t>Jenis-Jenis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latin typeface="Montserrat" panose="00000500000000000000" pitchFamily="2" charset="0"/>
              </a:rPr>
              <a:t>Komponen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Utama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Sistem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US" sz="1400" dirty="0">
                <a:latin typeface="Montserrat" panose="00000500000000000000" pitchFamily="2" charset="0"/>
              </a:rPr>
              <a:t>Hardware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400" dirty="0">
                <a:latin typeface="Montserrat" panose="00000500000000000000" pitchFamily="2" charset="0"/>
              </a:rPr>
              <a:t>Software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1400" dirty="0" err="1">
                <a:latin typeface="Montserrat" panose="00000500000000000000" pitchFamily="2" charset="0"/>
              </a:rPr>
              <a:t>Brainware</a:t>
            </a:r>
            <a:endParaRPr lang="en-US" sz="1400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latin typeface="Montserrat" panose="00000500000000000000" pitchFamily="2" charset="0"/>
              </a:rPr>
              <a:t>Menyalakan</a:t>
            </a:r>
            <a:r>
              <a:rPr lang="en-US" sz="1800" dirty="0">
                <a:latin typeface="Montserrat" panose="00000500000000000000" pitchFamily="2" charset="0"/>
              </a:rPr>
              <a:t> &amp; </a:t>
            </a:r>
            <a:r>
              <a:rPr lang="en-US" sz="1800" dirty="0" err="1">
                <a:latin typeface="Montserrat" panose="00000500000000000000" pitchFamily="2" charset="0"/>
              </a:rPr>
              <a:t>Mematikan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396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BEA1-AC1F-4B5E-9F22-E0F7B8B1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Kemampuan</a:t>
            </a:r>
            <a:r>
              <a:rPr lang="en-US" sz="3000" dirty="0">
                <a:latin typeface="Montserrat" panose="00000500000000000000" pitchFamily="2" charset="0"/>
              </a:rPr>
              <a:t> Dasar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1DE9-044B-46CA-83DD-DB0BD9395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Montserrat" panose="00000500000000000000" pitchFamily="2" charset="0"/>
              </a:rPr>
              <a:t>Sekedar</a:t>
            </a:r>
            <a:r>
              <a:rPr lang="en-US" sz="1800" dirty="0">
                <a:latin typeface="Montserrat" panose="00000500000000000000" pitchFamily="2" charset="0"/>
              </a:rPr>
              <a:t> tau </a:t>
            </a:r>
            <a:r>
              <a:rPr lang="en-US" sz="1800" dirty="0" err="1">
                <a:latin typeface="Montserrat" panose="00000500000000000000" pitchFamily="2" charset="0"/>
              </a:rPr>
              <a:t>Bahasa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Inggris</a:t>
            </a:r>
            <a:endParaRPr lang="id-ID" sz="1800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96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0BA2-7D65-4899-92CC-D5997CE0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Persiapan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5E963-110C-4B16-933F-28E41C31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anose="00000500000000000000" pitchFamily="2" charset="0"/>
              </a:rPr>
              <a:t>1 unit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r>
              <a:rPr lang="en-US" sz="1800" dirty="0">
                <a:latin typeface="Montserrat" panose="00000500000000000000" pitchFamily="2" charset="0"/>
              </a:rPr>
              <a:t>/Laptop yang </a:t>
            </a:r>
            <a:r>
              <a:rPr lang="en-US" sz="1800" dirty="0" err="1">
                <a:latin typeface="Montserrat" panose="00000500000000000000" pitchFamily="2" charset="0"/>
              </a:rPr>
              <a:t>siap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digunakan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6756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533</Words>
  <Application>Microsoft Office PowerPoint</Application>
  <PresentationFormat>Widescreen</PresentationFormat>
  <Paragraphs>86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Apa itu Komputer?</vt:lpstr>
      <vt:lpstr>Sejarah Singkat</vt:lpstr>
      <vt:lpstr>Sejarah Singkat</vt:lpstr>
      <vt:lpstr>Perkembangan</vt:lpstr>
      <vt:lpstr>Generasi Pertama (1940-1959)</vt:lpstr>
      <vt:lpstr>Generasi Kedua (1959-1965)</vt:lpstr>
      <vt:lpstr>Generasi Ketiga (1965-1970)</vt:lpstr>
      <vt:lpstr>Generasi Keempat (1970-sekarang)</vt:lpstr>
      <vt:lpstr>Generasi Kelima (sekarang-masa depan)</vt:lpstr>
      <vt:lpstr>Kenapa harus belajar Komputer?</vt:lpstr>
      <vt:lpstr>Kenapa harus belajar Komputer?</vt:lpstr>
      <vt:lpstr>Materi</vt:lpstr>
      <vt:lpstr>Kemampuan Dasar</vt:lpstr>
      <vt:lpstr>Persiapan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601</cp:revision>
  <dcterms:created xsi:type="dcterms:W3CDTF">2021-04-24T02:20:04Z</dcterms:created>
  <dcterms:modified xsi:type="dcterms:W3CDTF">2023-08-27T00:43:55Z</dcterms:modified>
</cp:coreProperties>
</file>