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notesMasterIdLst>
    <p:notesMasterId r:id="rId14"/>
  </p:notesMasterIdLst>
  <p:handoutMasterIdLst>
    <p:handoutMasterId r:id="rId15"/>
  </p:handoutMasterIdLst>
  <p:sldIdLst>
    <p:sldId id="278" r:id="rId4"/>
    <p:sldId id="281" r:id="rId5"/>
    <p:sldId id="282" r:id="rId6"/>
    <p:sldId id="284" r:id="rId7"/>
    <p:sldId id="286" r:id="rId8"/>
    <p:sldId id="285" r:id="rId9"/>
    <p:sldId id="283" r:id="rId10"/>
    <p:sldId id="287" r:id="rId11"/>
    <p:sldId id="288" r:id="rId12"/>
    <p:sldId id="289" r:id="rId13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9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214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59" autoAdjust="0"/>
    <p:restoredTop sz="94622" autoAdjust="0"/>
  </p:normalViewPr>
  <p:slideViewPr>
    <p:cSldViewPr>
      <p:cViewPr varScale="1">
        <p:scale>
          <a:sx n="87" d="100"/>
          <a:sy n="87" d="100"/>
        </p:scale>
        <p:origin x="558" y="84"/>
      </p:cViewPr>
      <p:guideLst>
        <p:guide orient="horz" pos="1620"/>
        <p:guide pos="2880"/>
        <p:guide orient="horz" pos="19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2DC96-A95D-46CF-90D0-C44C79A86FE7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RAKYAT NGODING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27B3F-43CE-49AD-B1CB-5A5B3501A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70653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44AD1-7E96-455A-8C7F-605A7DD0F917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RAKYAT NGODING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EDC514-9E28-441F-BF04-3DE8912E9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062478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5536" y="3003798"/>
            <a:ext cx="4032448" cy="115212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>
                <a:ea typeface="맑은 고딕" pitchFamily="50" charset="-127"/>
              </a:rPr>
              <a:t>FREE PPT </a:t>
            </a:r>
          </a:p>
          <a:p>
            <a:pPr lvl="0"/>
            <a:r>
              <a:rPr lang="en-US" altLang="ko-KR" dirty="0">
                <a:ea typeface="맑은 고딕" pitchFamily="50" charset="-127"/>
              </a:rPr>
              <a:t>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5388" y="4155926"/>
            <a:ext cx="4032448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</a:t>
            </a:r>
          </a:p>
          <a:p>
            <a:pPr lvl="0"/>
            <a:r>
              <a:rPr lang="en-US" altLang="ko-KR" dirty="0"/>
              <a:t>OF YOUR 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2699792" y="699542"/>
            <a:ext cx="3744416" cy="3744416"/>
            <a:chOff x="2699792" y="699542"/>
            <a:chExt cx="3744416" cy="3744416"/>
          </a:xfrm>
        </p:grpSpPr>
        <p:sp>
          <p:nvSpPr>
            <p:cNvPr id="2" name="Oval 1"/>
            <p:cNvSpPr/>
            <p:nvPr userDrawn="1"/>
          </p:nvSpPr>
          <p:spPr>
            <a:xfrm>
              <a:off x="2699792" y="699542"/>
              <a:ext cx="3744416" cy="3744416"/>
            </a:xfrm>
            <a:prstGeom prst="ellipse">
              <a:avLst/>
            </a:prstGeom>
            <a:solidFill>
              <a:schemeClr val="bg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 userDrawn="1"/>
          </p:nvSpPr>
          <p:spPr>
            <a:xfrm>
              <a:off x="2836962" y="836712"/>
              <a:ext cx="3470076" cy="3470076"/>
            </a:xfrm>
            <a:prstGeom prst="ellipse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5847953" y="984628"/>
            <a:ext cx="999728" cy="994953"/>
            <a:chOff x="6127601" y="487152"/>
            <a:chExt cx="999728" cy="994953"/>
          </a:xfrm>
        </p:grpSpPr>
        <p:sp>
          <p:nvSpPr>
            <p:cNvPr id="8" name="Oval 7"/>
            <p:cNvSpPr/>
            <p:nvPr userDrawn="1"/>
          </p:nvSpPr>
          <p:spPr>
            <a:xfrm>
              <a:off x="6127601" y="762025"/>
              <a:ext cx="720080" cy="720080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/>
            <p:cNvSpPr/>
            <p:nvPr userDrawn="1"/>
          </p:nvSpPr>
          <p:spPr>
            <a:xfrm>
              <a:off x="6847681" y="621668"/>
              <a:ext cx="279648" cy="279648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 userDrawn="1"/>
          </p:nvSpPr>
          <p:spPr>
            <a:xfrm>
              <a:off x="6475870" y="487152"/>
              <a:ext cx="139824" cy="139824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2" y="1597821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781230E9-ADC0-471E-BDB0-5ACBBA8A004A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1DA05B43-AAB4-4F3E-ADC7-59CA7BD5D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81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619672" y="113953"/>
            <a:ext cx="7524328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619672" y="690017"/>
            <a:ext cx="7524328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00647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tx1">
              <a:lumMod val="75000"/>
              <a:lumOff val="2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5220072" y="-6824"/>
            <a:ext cx="3923928" cy="5150323"/>
          </a:xfrm>
          <a:custGeom>
            <a:avLst/>
            <a:gdLst>
              <a:gd name="connsiteX0" fmla="*/ 0 w 4572000"/>
              <a:gd name="connsiteY0" fmla="*/ 0 h 5143500"/>
              <a:gd name="connsiteX1" fmla="*/ 4572000 w 4572000"/>
              <a:gd name="connsiteY1" fmla="*/ 0 h 5143500"/>
              <a:gd name="connsiteX2" fmla="*/ 4572000 w 4572000"/>
              <a:gd name="connsiteY2" fmla="*/ 5143500 h 5143500"/>
              <a:gd name="connsiteX3" fmla="*/ 0 w 4572000"/>
              <a:gd name="connsiteY3" fmla="*/ 5143500 h 5143500"/>
              <a:gd name="connsiteX4" fmla="*/ 0 w 4572000"/>
              <a:gd name="connsiteY4" fmla="*/ 0 h 5143500"/>
              <a:gd name="connsiteX0" fmla="*/ 2217761 w 4572000"/>
              <a:gd name="connsiteY0" fmla="*/ 0 h 5143500"/>
              <a:gd name="connsiteX1" fmla="*/ 4572000 w 4572000"/>
              <a:gd name="connsiteY1" fmla="*/ 0 h 5143500"/>
              <a:gd name="connsiteX2" fmla="*/ 4572000 w 4572000"/>
              <a:gd name="connsiteY2" fmla="*/ 5143500 h 5143500"/>
              <a:gd name="connsiteX3" fmla="*/ 0 w 4572000"/>
              <a:gd name="connsiteY3" fmla="*/ 5143500 h 5143500"/>
              <a:gd name="connsiteX4" fmla="*/ 2217761 w 4572000"/>
              <a:gd name="connsiteY4" fmla="*/ 0 h 5143500"/>
              <a:gd name="connsiteX0" fmla="*/ 2354239 w 4572000"/>
              <a:gd name="connsiteY0" fmla="*/ 0 h 5157147"/>
              <a:gd name="connsiteX1" fmla="*/ 4572000 w 4572000"/>
              <a:gd name="connsiteY1" fmla="*/ 13647 h 5157147"/>
              <a:gd name="connsiteX2" fmla="*/ 4572000 w 4572000"/>
              <a:gd name="connsiteY2" fmla="*/ 5157147 h 5157147"/>
              <a:gd name="connsiteX3" fmla="*/ 0 w 4572000"/>
              <a:gd name="connsiteY3" fmla="*/ 5157147 h 5157147"/>
              <a:gd name="connsiteX4" fmla="*/ 2354239 w 4572000"/>
              <a:gd name="connsiteY4" fmla="*/ 0 h 5157147"/>
              <a:gd name="connsiteX0" fmla="*/ 2347415 w 4572000"/>
              <a:gd name="connsiteY0" fmla="*/ 0 h 5150323"/>
              <a:gd name="connsiteX1" fmla="*/ 4572000 w 4572000"/>
              <a:gd name="connsiteY1" fmla="*/ 6823 h 5150323"/>
              <a:gd name="connsiteX2" fmla="*/ 4572000 w 4572000"/>
              <a:gd name="connsiteY2" fmla="*/ 5150323 h 5150323"/>
              <a:gd name="connsiteX3" fmla="*/ 0 w 4572000"/>
              <a:gd name="connsiteY3" fmla="*/ 5150323 h 5150323"/>
              <a:gd name="connsiteX4" fmla="*/ 2347415 w 4572000"/>
              <a:gd name="connsiteY4" fmla="*/ 0 h 5150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5150323">
                <a:moveTo>
                  <a:pt x="2347415" y="0"/>
                </a:moveTo>
                <a:lnTo>
                  <a:pt x="4572000" y="6823"/>
                </a:lnTo>
                <a:lnTo>
                  <a:pt x="4572000" y="5150323"/>
                </a:lnTo>
                <a:lnTo>
                  <a:pt x="0" y="5150323"/>
                </a:lnTo>
                <a:lnTo>
                  <a:pt x="234741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796136" y="3651870"/>
            <a:ext cx="3347864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96136" y="4397684"/>
            <a:ext cx="3347864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88502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38848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2639427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4727659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6815891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539552" y="1347614"/>
            <a:ext cx="1764000" cy="5269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539551" y="1347614"/>
            <a:ext cx="1140485" cy="5269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2639427" y="1347614"/>
            <a:ext cx="1764000" cy="526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2639426" y="1347614"/>
            <a:ext cx="1140485" cy="5269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4727659" y="1347614"/>
            <a:ext cx="1764000" cy="5269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ectangle 16"/>
          <p:cNvSpPr/>
          <p:nvPr userDrawn="1"/>
        </p:nvSpPr>
        <p:spPr>
          <a:xfrm>
            <a:off x="4727658" y="1347614"/>
            <a:ext cx="1140485" cy="5269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6815891" y="1347614"/>
            <a:ext cx="1764000" cy="526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6815890" y="1347614"/>
            <a:ext cx="1140485" cy="5269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279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Picture 2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6097" y="1059582"/>
            <a:ext cx="3816424" cy="3589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140112" y="1188189"/>
            <a:ext cx="3511110" cy="23258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1547204"/>
            <a:ext cx="2808312" cy="3400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8135" y="1685352"/>
            <a:ext cx="1619609" cy="2501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2771800" y="3076575"/>
            <a:ext cx="2808312" cy="15834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5940152" y="3076575"/>
            <a:ext cx="2808312" cy="15834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784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0056" y="2282477"/>
            <a:ext cx="5002056" cy="2544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17849" y="2623270"/>
            <a:ext cx="2398211" cy="17729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327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51520" y="210752"/>
            <a:ext cx="305983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369809" y="210752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369809" y="1795096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251520" y="3379104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1751068" y="3379104"/>
            <a:ext cx="3024336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2570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tx1">
              <a:lumMod val="75000"/>
              <a:lumOff val="2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51520" y="113953"/>
            <a:ext cx="856895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0017"/>
            <a:ext cx="856895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Rectangle 5"/>
          <p:cNvSpPr/>
          <p:nvPr userDrawn="1"/>
        </p:nvSpPr>
        <p:spPr>
          <a:xfrm flipH="1">
            <a:off x="4860032" y="1131590"/>
            <a:ext cx="4283968" cy="2880320"/>
          </a:xfrm>
          <a:prstGeom prst="rect">
            <a:avLst/>
          </a:prstGeom>
          <a:solidFill>
            <a:schemeClr val="accent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332704" y="0"/>
            <a:ext cx="3338624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3283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39552" y="1448650"/>
            <a:ext cx="4680520" cy="32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219624" y="475565"/>
            <a:ext cx="3384000" cy="9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2728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41399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23397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5395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596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853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47951" y="2787774"/>
            <a:ext cx="3959992" cy="5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47951" y="1291508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27657" y="3415796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627657" y="1291508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47951" y="3415796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4627665" y="2806575"/>
            <a:ext cx="3959992" cy="54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26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987574"/>
            <a:ext cx="4176464" cy="22322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44008" y="2571750"/>
            <a:ext cx="4176464" cy="22322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20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0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1315361"/>
            <a:ext cx="4176464" cy="1944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44008" y="2899537"/>
            <a:ext cx="4176464" cy="1944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2514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0633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apes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6" y="92609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Fully Editable Shapes</a:t>
            </a:r>
          </a:p>
        </p:txBody>
      </p:sp>
    </p:spTree>
    <p:extLst>
      <p:ext uri="{BB962C8B-B14F-4D97-AF65-F5344CB8AC3E}">
        <p14:creationId xmlns:p14="http://schemas.microsoft.com/office/powerpoint/2010/main" val="505649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64917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ame Side Corner Rectangle 3"/>
          <p:cNvSpPr/>
          <p:nvPr userDrawn="1"/>
        </p:nvSpPr>
        <p:spPr>
          <a:xfrm rot="5400000">
            <a:off x="2286105" y="-398432"/>
            <a:ext cx="1332147" cy="590435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173610"/>
            <a:ext cx="4283968" cy="473576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2647186"/>
            <a:ext cx="4283968" cy="2880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Oval 5"/>
          <p:cNvSpPr/>
          <p:nvPr userDrawn="1"/>
        </p:nvSpPr>
        <p:spPr>
          <a:xfrm>
            <a:off x="4608216" y="1977684"/>
            <a:ext cx="1152128" cy="115212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9" r:id="rId3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0" r:id="rId3"/>
    <p:sldLayoutId id="2147483661" r:id="rId4"/>
    <p:sldLayoutId id="2147483671" r:id="rId5"/>
    <p:sldLayoutId id="2147483655" r:id="rId6"/>
    <p:sldLayoutId id="2147483672" r:id="rId7"/>
    <p:sldLayoutId id="2147483675" r:id="rId8"/>
    <p:sldLayoutId id="2147483663" r:id="rId9"/>
    <p:sldLayoutId id="2147483674" r:id="rId10"/>
    <p:sldLayoutId id="2147483665" r:id="rId11"/>
    <p:sldLayoutId id="2147483666" r:id="rId12"/>
    <p:sldLayoutId id="2147483673" r:id="rId13"/>
    <p:sldLayoutId id="2147483669" r:id="rId14"/>
    <p:sldLayoutId id="2147483676" r:id="rId15"/>
    <p:sldLayoutId id="2147483668" r:id="rId16"/>
    <p:sldLayoutId id="2147483677" r:id="rId17"/>
    <p:sldLayoutId id="2147483656" r:id="rId18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219200" y="592869"/>
            <a:ext cx="6703214" cy="3949067"/>
            <a:chOff x="1219200" y="592869"/>
            <a:chExt cx="6703214" cy="3949067"/>
          </a:xfrm>
        </p:grpSpPr>
        <p:sp>
          <p:nvSpPr>
            <p:cNvPr id="19" name="Round Same Side Corner Rectangle 18"/>
            <p:cNvSpPr/>
            <p:nvPr/>
          </p:nvSpPr>
          <p:spPr>
            <a:xfrm rot="10800000">
              <a:off x="1219200" y="1055784"/>
              <a:ext cx="6703213" cy="3486152"/>
            </a:xfrm>
            <a:prstGeom prst="round2SameRect">
              <a:avLst>
                <a:gd name="adj1" fmla="val 3138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1219201" y="592869"/>
              <a:ext cx="6703213" cy="457199"/>
              <a:chOff x="465338" y="228600"/>
              <a:chExt cx="8450062" cy="609599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465338" y="228600"/>
                <a:ext cx="8450062" cy="609599"/>
                <a:chOff x="465338" y="1066800"/>
                <a:chExt cx="8450062" cy="609599"/>
              </a:xfrm>
            </p:grpSpPr>
            <p:sp>
              <p:nvSpPr>
                <p:cNvPr id="18" name="Round Same Side Corner Rectangle 17"/>
                <p:cNvSpPr/>
                <p:nvPr/>
              </p:nvSpPr>
              <p:spPr>
                <a:xfrm>
                  <a:off x="465338" y="1066800"/>
                  <a:ext cx="8450062" cy="609599"/>
                </a:xfrm>
                <a:prstGeom prst="round2SameRect">
                  <a:avLst>
                    <a:gd name="adj1" fmla="val 8618"/>
                    <a:gd name="adj2" fmla="val 0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/>
                <p:cNvSpPr/>
                <p:nvPr/>
              </p:nvSpPr>
              <p:spPr>
                <a:xfrm>
                  <a:off x="611820" y="1295399"/>
                  <a:ext cx="137159" cy="137160"/>
                </a:xfrm>
                <a:prstGeom prst="ellipse">
                  <a:avLst/>
                </a:prstGeom>
                <a:solidFill>
                  <a:srgbClr val="F3650D"/>
                </a:solidFill>
                <a:ln>
                  <a:solidFill>
                    <a:srgbClr val="F3650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Oval 20"/>
                <p:cNvSpPr/>
                <p:nvPr/>
              </p:nvSpPr>
              <p:spPr>
                <a:xfrm>
                  <a:off x="886286" y="1295396"/>
                  <a:ext cx="137159" cy="13716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1152616" y="1295399"/>
                  <a:ext cx="137159" cy="137160"/>
                </a:xfrm>
                <a:prstGeom prst="ellipse">
                  <a:avLst/>
                </a:prstGeom>
                <a:solidFill>
                  <a:srgbClr val="00FF00"/>
                </a:solidFill>
                <a:ln>
                  <a:solidFill>
                    <a:srgbClr val="00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1336554" y="1225476"/>
                  <a:ext cx="67076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b="1" spc="300" dirty="0">
                      <a:solidFill>
                        <a:schemeClr val="bg1"/>
                      </a:solidFill>
                      <a:latin typeface="Mistral" pitchFamily="66" charset="0"/>
                    </a:rPr>
                    <a:t>BERKENALAN DENGAN PEMROGRAMAN KOMPUTER</a:t>
                  </a:r>
                </a:p>
              </p:txBody>
            </p:sp>
          </p:grpSp>
          <p:cxnSp>
            <p:nvCxnSpPr>
              <p:cNvPr id="26" name="Straight Connector 25"/>
              <p:cNvCxnSpPr/>
              <p:nvPr/>
            </p:nvCxnSpPr>
            <p:spPr>
              <a:xfrm>
                <a:off x="8229600" y="228600"/>
                <a:ext cx="0" cy="609599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Round Same Side Corner Rectangle 12"/>
          <p:cNvSpPr/>
          <p:nvPr/>
        </p:nvSpPr>
        <p:spPr>
          <a:xfrm rot="10800000">
            <a:off x="1763223" y="1884122"/>
            <a:ext cx="5615162" cy="1829474"/>
          </a:xfrm>
          <a:prstGeom prst="round2SameRect">
            <a:avLst>
              <a:gd name="adj1" fmla="val 3138"/>
              <a:gd name="adj2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70023" y="1593622"/>
            <a:ext cx="601563" cy="601563"/>
          </a:xfrm>
          <a:prstGeom prst="ellips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16" name="Multiply 15"/>
          <p:cNvSpPr/>
          <p:nvPr/>
        </p:nvSpPr>
        <p:spPr>
          <a:xfrm>
            <a:off x="7564867" y="678591"/>
            <a:ext cx="182880" cy="274320"/>
          </a:xfrm>
          <a:prstGeom prst="mathMultiply">
            <a:avLst/>
          </a:prstGeom>
          <a:solidFill>
            <a:srgbClr val="CC0000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764401" y="2506472"/>
            <a:ext cx="56139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#13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BAGAIMANA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SOURCE CODE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MENJADI SEBUAH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 PROGRAM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74108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213762" y="2139702"/>
            <a:ext cx="7390686" cy="684076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sv-SE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Source Code</a:t>
            </a:r>
            <a:r>
              <a:rPr lang="sv-SE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harus diterjemahkan (diubah) dahulu ke </a:t>
            </a:r>
            <a:r>
              <a:rPr lang="sv-SE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 Mesin </a:t>
            </a:r>
            <a:r>
              <a:rPr lang="sv-SE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agar dapat  dijalankan menjadi sebuah program</a:t>
            </a:r>
            <a:endParaRPr lang="sv-SE" sz="1400" b="1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213761" y="1538486"/>
            <a:ext cx="7390687" cy="457200"/>
            <a:chOff x="1219198" y="495711"/>
            <a:chExt cx="6703216" cy="457200"/>
          </a:xfrm>
        </p:grpSpPr>
        <p:sp>
          <p:nvSpPr>
            <p:cNvPr id="15" name="Rectangle 14"/>
            <p:cNvSpPr/>
            <p:nvPr/>
          </p:nvSpPr>
          <p:spPr>
            <a:xfrm>
              <a:off x="1219198" y="495711"/>
              <a:ext cx="6703216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BAGAIMANA </a:t>
              </a: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SOURCE CODE 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MENJADI SEBUAH</a:t>
              </a: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 PROGRAM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?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219201" y="495711"/>
              <a:ext cx="76200" cy="4572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6509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501586"/>
              </p:ext>
            </p:extLst>
          </p:nvPr>
        </p:nvGraphicFramePr>
        <p:xfrm>
          <a:off x="323528" y="339502"/>
          <a:ext cx="8496944" cy="34972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8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05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tserrat" pitchFamily="2" charset="0"/>
                        </a:rPr>
                        <a:t>KOMPILASI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tserrat" pitchFamily="2" charset="0"/>
                        </a:rPr>
                        <a:t>INTERPRETASI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05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200" dirty="0" err="1">
                          <a:latin typeface="Montserrat" pitchFamily="2" charset="0"/>
                        </a:rPr>
                        <a:t>Dilakukan</a:t>
                      </a:r>
                      <a:r>
                        <a:rPr lang="en-US" sz="1200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baseline="0" dirty="0" err="1">
                          <a:latin typeface="Montserrat" pitchFamily="2" charset="0"/>
                        </a:rPr>
                        <a:t>oleh</a:t>
                      </a:r>
                      <a:r>
                        <a:rPr lang="en-US" sz="1200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baseline="0" dirty="0" err="1">
                          <a:latin typeface="Montserrat" pitchFamily="2" charset="0"/>
                        </a:rPr>
                        <a:t>sebuah</a:t>
                      </a:r>
                      <a:r>
                        <a:rPr lang="en-US" sz="1200" baseline="0" dirty="0">
                          <a:latin typeface="Montserrat" pitchFamily="2" charset="0"/>
                        </a:rPr>
                        <a:t> program yang </a:t>
                      </a:r>
                      <a:r>
                        <a:rPr lang="en-US" sz="1200" baseline="0" dirty="0" err="1">
                          <a:latin typeface="Montserrat" pitchFamily="2" charset="0"/>
                        </a:rPr>
                        <a:t>bernama</a:t>
                      </a:r>
                      <a:r>
                        <a:rPr lang="en-US" sz="1200" baseline="0" dirty="0">
                          <a:latin typeface="Montserrat" pitchFamily="2" charset="0"/>
                        </a:rPr>
                        <a:t> 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200" b="1" i="1" baseline="0" dirty="0">
                          <a:solidFill>
                            <a:srgbClr val="FF0000"/>
                          </a:solidFill>
                          <a:latin typeface="Montserrat" pitchFamily="2" charset="0"/>
                        </a:rPr>
                        <a:t>Compiler</a:t>
                      </a:r>
                      <a:endParaRPr lang="en-US" sz="1200" b="1" dirty="0">
                        <a:solidFill>
                          <a:srgbClr val="FF0000"/>
                        </a:solidFill>
                        <a:latin typeface="Montserra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Montserrat" pitchFamily="2" charset="0"/>
                        </a:rPr>
                        <a:t>Dilakukan</a:t>
                      </a:r>
                      <a:r>
                        <a:rPr lang="en-US" sz="1200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baseline="0" dirty="0" err="1">
                          <a:latin typeface="Montserrat" pitchFamily="2" charset="0"/>
                        </a:rPr>
                        <a:t>oleh</a:t>
                      </a:r>
                      <a:r>
                        <a:rPr lang="en-US" sz="1200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baseline="0" dirty="0" err="1">
                          <a:latin typeface="Montserrat" pitchFamily="2" charset="0"/>
                        </a:rPr>
                        <a:t>sebuah</a:t>
                      </a:r>
                      <a:r>
                        <a:rPr lang="en-US" sz="1200" baseline="0" dirty="0">
                          <a:latin typeface="Montserrat" pitchFamily="2" charset="0"/>
                        </a:rPr>
                        <a:t> program yang </a:t>
                      </a:r>
                      <a:r>
                        <a:rPr lang="en-US" sz="1200" baseline="0" dirty="0" err="1">
                          <a:latin typeface="Montserrat" pitchFamily="2" charset="0"/>
                        </a:rPr>
                        <a:t>bernama</a:t>
                      </a:r>
                      <a:r>
                        <a:rPr lang="en-US" sz="1200" baseline="0" dirty="0">
                          <a:latin typeface="Montserrat" pitchFamily="2" charset="0"/>
                        </a:rPr>
                        <a:t>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1" baseline="0" dirty="0">
                          <a:solidFill>
                            <a:schemeClr val="accent2"/>
                          </a:solidFill>
                          <a:latin typeface="Montserrat" pitchFamily="2" charset="0"/>
                        </a:rPr>
                        <a:t>Interpreter</a:t>
                      </a:r>
                      <a:endParaRPr lang="en-US" sz="1200" b="1" dirty="0">
                        <a:solidFill>
                          <a:schemeClr val="accent2"/>
                        </a:solidFill>
                        <a:latin typeface="Montserrat" pitchFamily="2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05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200" dirty="0" err="1">
                          <a:latin typeface="Montserrat" pitchFamily="2" charset="0"/>
                        </a:rPr>
                        <a:t>Contoh</a:t>
                      </a:r>
                      <a:r>
                        <a:rPr lang="en-US" sz="1200" dirty="0">
                          <a:latin typeface="Montserrat" pitchFamily="2" charset="0"/>
                        </a:rPr>
                        <a:t> : C, C++, Pascal, </a:t>
                      </a:r>
                      <a:r>
                        <a:rPr lang="en-US" sz="1200" dirty="0" err="1">
                          <a:latin typeface="Montserrat" pitchFamily="2" charset="0"/>
                        </a:rPr>
                        <a:t>dsb</a:t>
                      </a:r>
                      <a:r>
                        <a:rPr lang="en-US" sz="1200" dirty="0">
                          <a:latin typeface="Montserrat" pitchFamily="2" charset="0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Montserrat" pitchFamily="2" charset="0"/>
                        </a:rPr>
                        <a:t>Contoh</a:t>
                      </a:r>
                      <a:r>
                        <a:rPr lang="en-US" sz="1200" dirty="0">
                          <a:latin typeface="Montserrat" pitchFamily="2" charset="0"/>
                        </a:rPr>
                        <a:t> : </a:t>
                      </a:r>
                      <a:r>
                        <a:rPr lang="en-US" sz="1200" dirty="0" err="1">
                          <a:latin typeface="Montserrat" pitchFamily="2" charset="0"/>
                        </a:rPr>
                        <a:t>Javascript</a:t>
                      </a:r>
                      <a:r>
                        <a:rPr lang="en-US" sz="1200" dirty="0">
                          <a:latin typeface="Montserrat" pitchFamily="2" charset="0"/>
                        </a:rPr>
                        <a:t>, PHP,</a:t>
                      </a:r>
                      <a:r>
                        <a:rPr lang="en-US" sz="1200" baseline="0" dirty="0">
                          <a:latin typeface="Montserrat" pitchFamily="2" charset="0"/>
                        </a:rPr>
                        <a:t> Ruby, </a:t>
                      </a:r>
                      <a:r>
                        <a:rPr lang="en-US" sz="1200" baseline="0" dirty="0" err="1">
                          <a:latin typeface="Montserrat" pitchFamily="2" charset="0"/>
                        </a:rPr>
                        <a:t>dsb</a:t>
                      </a:r>
                      <a:r>
                        <a:rPr lang="en-US" sz="1200" baseline="0" dirty="0">
                          <a:latin typeface="Montserrat" pitchFamily="2" charset="0"/>
                        </a:rPr>
                        <a:t>.</a:t>
                      </a:r>
                      <a:endParaRPr lang="en-US" sz="1200" dirty="0">
                        <a:latin typeface="Montserrat" pitchFamily="2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05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200" i="1" baseline="0" dirty="0">
                          <a:latin typeface="Montserrat" pitchFamily="2" charset="0"/>
                        </a:rPr>
                        <a:t>Compiler</a:t>
                      </a:r>
                      <a:r>
                        <a:rPr lang="en-US" sz="1200" i="0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i="0" baseline="0" dirty="0" err="1">
                          <a:latin typeface="Montserrat" pitchFamily="2" charset="0"/>
                        </a:rPr>
                        <a:t>akan</a:t>
                      </a:r>
                      <a:r>
                        <a:rPr lang="en-US" sz="1200" i="0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i="0" baseline="0" dirty="0" err="1">
                          <a:latin typeface="Montserrat" pitchFamily="2" charset="0"/>
                        </a:rPr>
                        <a:t>menerjemahkan</a:t>
                      </a:r>
                      <a:r>
                        <a:rPr lang="en-US" sz="1200" i="0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i="0" baseline="0" dirty="0" err="1">
                          <a:latin typeface="Montserrat" pitchFamily="2" charset="0"/>
                        </a:rPr>
                        <a:t>kode</a:t>
                      </a:r>
                      <a:r>
                        <a:rPr lang="en-US" sz="1200" i="0" baseline="0" dirty="0">
                          <a:latin typeface="Montserrat" pitchFamily="2" charset="0"/>
                        </a:rPr>
                        <a:t> program 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200" i="0" baseline="0" dirty="0" err="1">
                          <a:latin typeface="Montserrat" pitchFamily="2" charset="0"/>
                        </a:rPr>
                        <a:t>langsung</a:t>
                      </a:r>
                      <a:r>
                        <a:rPr lang="en-US" sz="1200" i="0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i="0" baseline="0" dirty="0" err="1">
                          <a:latin typeface="Montserrat" pitchFamily="2" charset="0"/>
                        </a:rPr>
                        <a:t>secara</a:t>
                      </a:r>
                      <a:r>
                        <a:rPr lang="en-US" sz="1200" i="0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b="1" i="0" baseline="0" dirty="0" err="1">
                          <a:solidFill>
                            <a:srgbClr val="FF0000"/>
                          </a:solidFill>
                          <a:latin typeface="Montserrat" pitchFamily="2" charset="0"/>
                        </a:rPr>
                        <a:t>keseluruhan</a:t>
                      </a:r>
                      <a:endParaRPr lang="en-US" sz="1200" b="1" dirty="0">
                        <a:solidFill>
                          <a:srgbClr val="FF0000"/>
                        </a:solidFill>
                        <a:latin typeface="Montserra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1" baseline="0" dirty="0">
                          <a:latin typeface="Montserrat" pitchFamily="2" charset="0"/>
                        </a:rPr>
                        <a:t>Interpreter</a:t>
                      </a:r>
                      <a:r>
                        <a:rPr lang="en-US" sz="1200" i="0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i="0" baseline="0" dirty="0" err="1">
                          <a:latin typeface="Montserrat" pitchFamily="2" charset="0"/>
                        </a:rPr>
                        <a:t>akan</a:t>
                      </a:r>
                      <a:r>
                        <a:rPr lang="en-US" sz="1200" i="0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i="0" baseline="0" dirty="0" err="1">
                          <a:latin typeface="Montserrat" pitchFamily="2" charset="0"/>
                        </a:rPr>
                        <a:t>menerjemahkan</a:t>
                      </a:r>
                      <a:r>
                        <a:rPr lang="en-US" sz="1200" i="0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i="0" baseline="0" dirty="0" err="1">
                          <a:latin typeface="Montserrat" pitchFamily="2" charset="0"/>
                        </a:rPr>
                        <a:t>kode</a:t>
                      </a:r>
                      <a:r>
                        <a:rPr lang="en-US" sz="1200" i="0" baseline="0" dirty="0">
                          <a:latin typeface="Montserrat" pitchFamily="2" charset="0"/>
                        </a:rPr>
                        <a:t> program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baseline="0" dirty="0" err="1">
                          <a:solidFill>
                            <a:schemeClr val="accent2"/>
                          </a:solidFill>
                          <a:latin typeface="Montserrat" pitchFamily="2" charset="0"/>
                        </a:rPr>
                        <a:t>baris</a:t>
                      </a:r>
                      <a:r>
                        <a:rPr lang="en-US" sz="1200" b="1" i="0" baseline="0" dirty="0">
                          <a:solidFill>
                            <a:schemeClr val="accent2"/>
                          </a:solidFill>
                          <a:latin typeface="Montserrat" pitchFamily="2" charset="0"/>
                        </a:rPr>
                        <a:t> per </a:t>
                      </a:r>
                      <a:r>
                        <a:rPr lang="en-US" sz="1200" b="1" i="0" baseline="0" dirty="0" err="1">
                          <a:solidFill>
                            <a:schemeClr val="accent2"/>
                          </a:solidFill>
                          <a:latin typeface="Montserrat" pitchFamily="2" charset="0"/>
                        </a:rPr>
                        <a:t>baris</a:t>
                      </a:r>
                      <a:endParaRPr lang="en-US" sz="1200" b="1" dirty="0">
                        <a:solidFill>
                          <a:schemeClr val="accent2"/>
                        </a:solidFill>
                        <a:latin typeface="Montserrat" pitchFamily="2" charset="0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endParaRPr lang="en-US" sz="1200" dirty="0">
                        <a:latin typeface="Montserrat" pitchFamily="2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05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Montserrat" pitchFamily="2" charset="0"/>
                        </a:rPr>
                        <a:t>Jika</a:t>
                      </a:r>
                      <a:r>
                        <a:rPr lang="en-US" sz="120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dirty="0" err="1">
                          <a:latin typeface="Montserrat" pitchFamily="2" charset="0"/>
                        </a:rPr>
                        <a:t>ada</a:t>
                      </a:r>
                      <a:r>
                        <a:rPr lang="en-US" sz="120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i="1" dirty="0">
                          <a:latin typeface="Montserrat" pitchFamily="2" charset="0"/>
                        </a:rPr>
                        <a:t>error </a:t>
                      </a:r>
                      <a:r>
                        <a:rPr lang="en-US" sz="1200" i="0" dirty="0">
                          <a:latin typeface="Montserrat" pitchFamily="2" charset="0"/>
                        </a:rPr>
                        <a:t>(</a:t>
                      </a:r>
                      <a:r>
                        <a:rPr lang="en-US" sz="1200" i="0" dirty="0" err="1">
                          <a:latin typeface="Montserrat" pitchFamily="2" charset="0"/>
                        </a:rPr>
                        <a:t>kesalahan</a:t>
                      </a:r>
                      <a:r>
                        <a:rPr lang="en-US" sz="1200" i="0" dirty="0">
                          <a:latin typeface="Montserrat" pitchFamily="2" charset="0"/>
                        </a:rPr>
                        <a:t>)</a:t>
                      </a:r>
                      <a:r>
                        <a:rPr lang="en-US" sz="1200" i="0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i="0" baseline="0" dirty="0" err="1">
                          <a:latin typeface="Montserrat" pitchFamily="2" charset="0"/>
                        </a:rPr>
                        <a:t>pada</a:t>
                      </a:r>
                      <a:r>
                        <a:rPr lang="en-US" sz="1200" i="0" baseline="0" dirty="0">
                          <a:latin typeface="Montserrat" pitchFamily="2" charset="0"/>
                        </a:rPr>
                        <a:t> program, </a:t>
                      </a:r>
                      <a:r>
                        <a:rPr lang="en-US" sz="1200" i="0" baseline="0" dirty="0" err="1">
                          <a:latin typeface="Montserrat" pitchFamily="2" charset="0"/>
                        </a:rPr>
                        <a:t>maka</a:t>
                      </a:r>
                      <a:r>
                        <a:rPr lang="en-US" sz="1200" i="0" baseline="0" dirty="0">
                          <a:latin typeface="Montserrat" pitchFamily="2" charset="0"/>
                        </a:rPr>
                        <a:t>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Montserrat" pitchFamily="2" charset="0"/>
                        </a:rPr>
                        <a:t>pesan</a:t>
                      </a:r>
                      <a:r>
                        <a:rPr lang="en-US" sz="120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i="1" dirty="0">
                          <a:latin typeface="Montserrat" pitchFamily="2" charset="0"/>
                        </a:rPr>
                        <a:t>error</a:t>
                      </a:r>
                      <a:r>
                        <a:rPr lang="en-US" sz="1200" i="1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b="1" i="0" baseline="0" dirty="0" err="1">
                          <a:solidFill>
                            <a:srgbClr val="FF0000"/>
                          </a:solidFill>
                          <a:latin typeface="Montserrat" pitchFamily="2" charset="0"/>
                        </a:rPr>
                        <a:t>tidak</a:t>
                      </a:r>
                      <a:r>
                        <a:rPr lang="en-US" sz="1200" b="1" i="0" baseline="0" dirty="0">
                          <a:solidFill>
                            <a:srgbClr val="FF0000"/>
                          </a:solidFill>
                          <a:latin typeface="Montserrat" pitchFamily="2" charset="0"/>
                        </a:rPr>
                        <a:t> </a:t>
                      </a:r>
                      <a:r>
                        <a:rPr lang="en-US" sz="1200" b="1" i="0" baseline="0" dirty="0" err="1">
                          <a:solidFill>
                            <a:srgbClr val="FF0000"/>
                          </a:solidFill>
                          <a:latin typeface="Montserrat" pitchFamily="2" charset="0"/>
                        </a:rPr>
                        <a:t>akan</a:t>
                      </a:r>
                      <a:r>
                        <a:rPr lang="en-US" sz="1200" b="1" i="0" baseline="0" dirty="0">
                          <a:solidFill>
                            <a:srgbClr val="FF0000"/>
                          </a:solidFill>
                          <a:latin typeface="Montserrat" pitchFamily="2" charset="0"/>
                        </a:rPr>
                        <a:t> </a:t>
                      </a:r>
                      <a:r>
                        <a:rPr lang="en-US" sz="1200" b="1" i="0" baseline="0" dirty="0" err="1">
                          <a:solidFill>
                            <a:srgbClr val="FF0000"/>
                          </a:solidFill>
                          <a:latin typeface="Montserrat" pitchFamily="2" charset="0"/>
                        </a:rPr>
                        <a:t>muncul</a:t>
                      </a:r>
                      <a:r>
                        <a:rPr lang="en-US" sz="1200" i="0" baseline="0" dirty="0">
                          <a:solidFill>
                            <a:schemeClr val="tx1"/>
                          </a:solidFill>
                          <a:latin typeface="Montserrat" pitchFamily="2" charset="0"/>
                        </a:rPr>
                        <a:t> </a:t>
                      </a:r>
                      <a:r>
                        <a:rPr lang="en-US" sz="1200" i="0" baseline="0" dirty="0" err="1">
                          <a:latin typeface="Montserrat" pitchFamily="2" charset="0"/>
                        </a:rPr>
                        <a:t>sebelum</a:t>
                      </a:r>
                      <a:endParaRPr lang="en-US" sz="1200" i="0" baseline="0" dirty="0">
                        <a:latin typeface="Montserrat" pitchFamily="2" charset="0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i="0" baseline="0" dirty="0" err="1">
                          <a:latin typeface="Montserrat" pitchFamily="2" charset="0"/>
                        </a:rPr>
                        <a:t>semua</a:t>
                      </a:r>
                      <a:r>
                        <a:rPr lang="en-US" sz="1200" i="0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i="0" baseline="0" dirty="0" err="1">
                          <a:latin typeface="Montserrat" pitchFamily="2" charset="0"/>
                        </a:rPr>
                        <a:t>baris</a:t>
                      </a:r>
                      <a:r>
                        <a:rPr lang="en-US" sz="1200" i="0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i="0" baseline="0" dirty="0" err="1">
                          <a:latin typeface="Montserrat" pitchFamily="2" charset="0"/>
                        </a:rPr>
                        <a:t>kode</a:t>
                      </a:r>
                      <a:r>
                        <a:rPr lang="en-US" sz="1200" i="0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i="0" baseline="0" dirty="0" err="1">
                          <a:latin typeface="Montserrat" pitchFamily="2" charset="0"/>
                        </a:rPr>
                        <a:t>selesai</a:t>
                      </a:r>
                      <a:r>
                        <a:rPr lang="en-US" sz="1200" i="0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i="0" baseline="0" dirty="0" err="1">
                          <a:latin typeface="Montserrat" pitchFamily="2" charset="0"/>
                        </a:rPr>
                        <a:t>dipindai</a:t>
                      </a:r>
                      <a:endParaRPr lang="en-US" sz="1200" i="1" dirty="0">
                        <a:latin typeface="Montserra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Montserrat" pitchFamily="2" charset="0"/>
                        </a:rPr>
                        <a:t>Jika</a:t>
                      </a:r>
                      <a:r>
                        <a:rPr lang="en-US" sz="120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dirty="0" err="1">
                          <a:latin typeface="Montserrat" pitchFamily="2" charset="0"/>
                        </a:rPr>
                        <a:t>ada</a:t>
                      </a:r>
                      <a:r>
                        <a:rPr lang="en-US" sz="120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i="1" dirty="0">
                          <a:latin typeface="Montserrat" pitchFamily="2" charset="0"/>
                        </a:rPr>
                        <a:t>error </a:t>
                      </a:r>
                      <a:r>
                        <a:rPr lang="en-US" sz="1200" i="0" dirty="0">
                          <a:latin typeface="Montserrat" pitchFamily="2" charset="0"/>
                        </a:rPr>
                        <a:t>(</a:t>
                      </a:r>
                      <a:r>
                        <a:rPr lang="en-US" sz="1200" i="0" dirty="0" err="1">
                          <a:latin typeface="Montserrat" pitchFamily="2" charset="0"/>
                        </a:rPr>
                        <a:t>kesalahan</a:t>
                      </a:r>
                      <a:r>
                        <a:rPr lang="en-US" sz="1200" i="0" dirty="0">
                          <a:latin typeface="Montserrat" pitchFamily="2" charset="0"/>
                        </a:rPr>
                        <a:t>)</a:t>
                      </a:r>
                      <a:r>
                        <a:rPr lang="en-US" sz="1200" i="0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i="0" baseline="0" dirty="0" err="1">
                          <a:latin typeface="Montserrat" pitchFamily="2" charset="0"/>
                        </a:rPr>
                        <a:t>pada</a:t>
                      </a:r>
                      <a:r>
                        <a:rPr lang="en-US" sz="1200" i="0" baseline="0" dirty="0">
                          <a:latin typeface="Montserrat" pitchFamily="2" charset="0"/>
                        </a:rPr>
                        <a:t> program, </a:t>
                      </a:r>
                      <a:r>
                        <a:rPr lang="en-US" sz="1200" i="0" baseline="0" dirty="0" err="1">
                          <a:latin typeface="Montserrat" pitchFamily="2" charset="0"/>
                        </a:rPr>
                        <a:t>maka</a:t>
                      </a:r>
                      <a:r>
                        <a:rPr lang="en-US" sz="1200" i="0" baseline="0" dirty="0">
                          <a:latin typeface="Montserrat" pitchFamily="2" charset="0"/>
                        </a:rPr>
                        <a:t>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err="1">
                          <a:solidFill>
                            <a:schemeClr val="accent2"/>
                          </a:solidFill>
                          <a:latin typeface="Montserrat" pitchFamily="2" charset="0"/>
                        </a:rPr>
                        <a:t>langsung</a:t>
                      </a:r>
                      <a:r>
                        <a:rPr lang="en-US" sz="1200" b="1" baseline="0" dirty="0">
                          <a:solidFill>
                            <a:schemeClr val="accent2"/>
                          </a:solidFill>
                          <a:latin typeface="Montserrat" pitchFamily="2" charset="0"/>
                        </a:rPr>
                        <a:t> </a:t>
                      </a:r>
                      <a:r>
                        <a:rPr lang="en-US" sz="1200" b="1" baseline="0" dirty="0" err="1">
                          <a:solidFill>
                            <a:schemeClr val="accent2"/>
                          </a:solidFill>
                          <a:latin typeface="Montserrat" pitchFamily="2" charset="0"/>
                        </a:rPr>
                        <a:t>muncul</a:t>
                      </a:r>
                      <a:r>
                        <a:rPr lang="en-US" sz="1200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baseline="0" dirty="0" err="1">
                          <a:latin typeface="Montserrat" pitchFamily="2" charset="0"/>
                        </a:rPr>
                        <a:t>dan</a:t>
                      </a:r>
                      <a:r>
                        <a:rPr lang="en-US" sz="1200" baseline="0" dirty="0">
                          <a:latin typeface="Montserrat" pitchFamily="2" charset="0"/>
                        </a:rPr>
                        <a:t> program </a:t>
                      </a:r>
                      <a:r>
                        <a:rPr lang="en-US" sz="1200" baseline="0" dirty="0" err="1">
                          <a:latin typeface="Montserrat" pitchFamily="2" charset="0"/>
                        </a:rPr>
                        <a:t>berhenti</a:t>
                      </a:r>
                      <a:endParaRPr lang="en-US" sz="1200" i="1" dirty="0">
                        <a:latin typeface="Montserrat" pitchFamily="2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05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200" dirty="0">
                          <a:latin typeface="Montserrat" pitchFamily="2" charset="0"/>
                        </a:rPr>
                        <a:t>Proses </a:t>
                      </a:r>
                      <a:r>
                        <a:rPr lang="en-US" sz="1200" i="1" dirty="0">
                          <a:latin typeface="Montserrat" pitchFamily="2" charset="0"/>
                        </a:rPr>
                        <a:t>debugging </a:t>
                      </a:r>
                      <a:r>
                        <a:rPr lang="en-US" sz="1200" i="0" dirty="0">
                          <a:latin typeface="Montserrat" pitchFamily="2" charset="0"/>
                        </a:rPr>
                        <a:t>(</a:t>
                      </a:r>
                      <a:r>
                        <a:rPr lang="en-US" sz="1200" i="0" dirty="0" err="1">
                          <a:latin typeface="Montserrat" pitchFamily="2" charset="0"/>
                        </a:rPr>
                        <a:t>mencari</a:t>
                      </a:r>
                      <a:r>
                        <a:rPr lang="en-US" sz="1200" i="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i="0" dirty="0" err="1">
                          <a:latin typeface="Montserrat" pitchFamily="2" charset="0"/>
                        </a:rPr>
                        <a:t>kesalahan</a:t>
                      </a:r>
                      <a:r>
                        <a:rPr lang="en-US" sz="1200" i="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i="0" dirty="0" err="1">
                          <a:latin typeface="Montserrat" pitchFamily="2" charset="0"/>
                        </a:rPr>
                        <a:t>kode</a:t>
                      </a:r>
                      <a:r>
                        <a:rPr lang="en-US" sz="1200" i="0" dirty="0">
                          <a:latin typeface="Montserrat" pitchFamily="2" charset="0"/>
                        </a:rPr>
                        <a:t> 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200" i="0" dirty="0">
                          <a:latin typeface="Montserrat" pitchFamily="2" charset="0"/>
                        </a:rPr>
                        <a:t>program) </a:t>
                      </a:r>
                      <a:r>
                        <a:rPr lang="en-US" sz="1200" b="1" i="0" dirty="0" err="1">
                          <a:solidFill>
                            <a:srgbClr val="FF0000"/>
                          </a:solidFill>
                          <a:latin typeface="Montserrat" pitchFamily="2" charset="0"/>
                        </a:rPr>
                        <a:t>sulit</a:t>
                      </a:r>
                      <a:r>
                        <a:rPr lang="en-US" sz="1200" b="0" i="0" baseline="0" dirty="0">
                          <a:solidFill>
                            <a:schemeClr val="dk1"/>
                          </a:solidFill>
                          <a:latin typeface="Montserrat" pitchFamily="2" charset="0"/>
                        </a:rPr>
                        <a:t> </a:t>
                      </a:r>
                      <a:r>
                        <a:rPr lang="en-US" sz="1200" b="0" i="0" baseline="0" dirty="0" err="1">
                          <a:solidFill>
                            <a:schemeClr val="dk1"/>
                          </a:solidFill>
                          <a:latin typeface="Montserrat" pitchFamily="2" charset="0"/>
                        </a:rPr>
                        <a:t>sehingga</a:t>
                      </a:r>
                      <a:r>
                        <a:rPr lang="en-US" sz="1200" b="0" i="0" baseline="0" dirty="0">
                          <a:solidFill>
                            <a:schemeClr val="dk1"/>
                          </a:solidFill>
                          <a:latin typeface="Montserrat" pitchFamily="2" charset="0"/>
                        </a:rPr>
                        <a:t> </a:t>
                      </a:r>
                      <a:r>
                        <a:rPr lang="en-US" sz="1200" b="0" i="0" baseline="0" dirty="0" err="1">
                          <a:solidFill>
                            <a:schemeClr val="dk1"/>
                          </a:solidFill>
                          <a:latin typeface="Montserrat" pitchFamily="2" charset="0"/>
                        </a:rPr>
                        <a:t>relatif</a:t>
                      </a:r>
                      <a:r>
                        <a:rPr lang="en-US" sz="1200" b="0" i="0" baseline="0" dirty="0">
                          <a:solidFill>
                            <a:schemeClr val="dk1"/>
                          </a:solidFill>
                          <a:latin typeface="Montserrat" pitchFamily="2" charset="0"/>
                        </a:rPr>
                        <a:t> </a:t>
                      </a:r>
                      <a:r>
                        <a:rPr lang="en-US" sz="1200" b="0" i="0" baseline="0" dirty="0" err="1">
                          <a:solidFill>
                            <a:schemeClr val="dk1"/>
                          </a:solidFill>
                          <a:latin typeface="Montserrat" pitchFamily="2" charset="0"/>
                        </a:rPr>
                        <a:t>lebih</a:t>
                      </a:r>
                      <a:r>
                        <a:rPr lang="en-US" sz="1200" b="0" i="0" baseline="0" dirty="0">
                          <a:solidFill>
                            <a:schemeClr val="dk1"/>
                          </a:solidFill>
                          <a:latin typeface="Montserrat" pitchFamily="2" charset="0"/>
                        </a:rPr>
                        <a:t> </a:t>
                      </a:r>
                      <a:r>
                        <a:rPr lang="en-US" sz="1200" b="0" i="0" baseline="0" dirty="0" err="1">
                          <a:solidFill>
                            <a:schemeClr val="dk1"/>
                          </a:solidFill>
                          <a:latin typeface="Montserrat" pitchFamily="2" charset="0"/>
                        </a:rPr>
                        <a:t>lambat</a:t>
                      </a:r>
                      <a:endParaRPr lang="en-US" sz="1200" dirty="0">
                        <a:latin typeface="Montserra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200" dirty="0">
                          <a:latin typeface="Montserrat" pitchFamily="2" charset="0"/>
                        </a:rPr>
                        <a:t>Proses </a:t>
                      </a:r>
                      <a:r>
                        <a:rPr lang="en-US" sz="1200" i="1" dirty="0">
                          <a:latin typeface="Montserrat" pitchFamily="2" charset="0"/>
                        </a:rPr>
                        <a:t>debugging </a:t>
                      </a:r>
                      <a:r>
                        <a:rPr lang="en-US" sz="1200" i="0" dirty="0">
                          <a:latin typeface="Montserrat" pitchFamily="2" charset="0"/>
                        </a:rPr>
                        <a:t>(</a:t>
                      </a:r>
                      <a:r>
                        <a:rPr lang="en-US" sz="1200" i="0" dirty="0" err="1">
                          <a:latin typeface="Montserrat" pitchFamily="2" charset="0"/>
                        </a:rPr>
                        <a:t>mencari</a:t>
                      </a:r>
                      <a:r>
                        <a:rPr lang="en-US" sz="1200" i="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i="0" dirty="0" err="1">
                          <a:latin typeface="Montserrat" pitchFamily="2" charset="0"/>
                        </a:rPr>
                        <a:t>kesalahan</a:t>
                      </a:r>
                      <a:r>
                        <a:rPr lang="en-US" sz="1200" i="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i="0" dirty="0" err="1">
                          <a:latin typeface="Montserrat" pitchFamily="2" charset="0"/>
                        </a:rPr>
                        <a:t>kode</a:t>
                      </a:r>
                      <a:r>
                        <a:rPr lang="en-US" sz="1200" i="0" dirty="0">
                          <a:latin typeface="Montserrat" pitchFamily="2" charset="0"/>
                        </a:rPr>
                        <a:t> 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200" i="0" dirty="0">
                          <a:latin typeface="Montserrat" pitchFamily="2" charset="0"/>
                        </a:rPr>
                        <a:t>program) </a:t>
                      </a:r>
                      <a:r>
                        <a:rPr lang="en-US" sz="1200" b="1" i="0" dirty="0" err="1">
                          <a:solidFill>
                            <a:schemeClr val="accent2"/>
                          </a:solidFill>
                          <a:latin typeface="Montserrat" pitchFamily="2" charset="0"/>
                        </a:rPr>
                        <a:t>mudah</a:t>
                      </a:r>
                      <a:r>
                        <a:rPr lang="en-US" sz="1200" i="0" dirty="0">
                          <a:solidFill>
                            <a:schemeClr val="tx1"/>
                          </a:solidFill>
                          <a:latin typeface="Montserrat" pitchFamily="2" charset="0"/>
                        </a:rPr>
                        <a:t> </a:t>
                      </a:r>
                      <a:r>
                        <a:rPr lang="en-US" sz="1200" b="0" i="0" baseline="0" dirty="0" err="1">
                          <a:solidFill>
                            <a:schemeClr val="dk1"/>
                          </a:solidFill>
                          <a:latin typeface="Montserrat" pitchFamily="2" charset="0"/>
                        </a:rPr>
                        <a:t>sehingga</a:t>
                      </a:r>
                      <a:r>
                        <a:rPr lang="en-US" sz="1200" b="0" i="0" baseline="0" dirty="0">
                          <a:solidFill>
                            <a:schemeClr val="dk1"/>
                          </a:solidFill>
                          <a:latin typeface="Montserrat" pitchFamily="2" charset="0"/>
                        </a:rPr>
                        <a:t> </a:t>
                      </a:r>
                      <a:r>
                        <a:rPr lang="en-US" sz="1200" b="0" i="0" baseline="0" dirty="0" err="1">
                          <a:solidFill>
                            <a:schemeClr val="dk1"/>
                          </a:solidFill>
                          <a:latin typeface="Montserrat" pitchFamily="2" charset="0"/>
                        </a:rPr>
                        <a:t>relatif</a:t>
                      </a:r>
                      <a:r>
                        <a:rPr lang="en-US" sz="1200" b="0" i="0" baseline="0" dirty="0">
                          <a:solidFill>
                            <a:schemeClr val="dk1"/>
                          </a:solidFill>
                          <a:latin typeface="Montserrat" pitchFamily="2" charset="0"/>
                        </a:rPr>
                        <a:t> </a:t>
                      </a:r>
                      <a:r>
                        <a:rPr lang="en-US" sz="1200" b="0" i="0" baseline="0" dirty="0" err="1">
                          <a:solidFill>
                            <a:schemeClr val="dk1"/>
                          </a:solidFill>
                          <a:latin typeface="Montserrat" pitchFamily="2" charset="0"/>
                        </a:rPr>
                        <a:t>lebih</a:t>
                      </a:r>
                      <a:r>
                        <a:rPr lang="en-US" sz="1200" b="0" i="0" baseline="0" dirty="0">
                          <a:solidFill>
                            <a:schemeClr val="dk1"/>
                          </a:solidFill>
                          <a:latin typeface="Montserrat" pitchFamily="2" charset="0"/>
                        </a:rPr>
                        <a:t> </a:t>
                      </a:r>
                      <a:r>
                        <a:rPr lang="en-US" sz="1200" b="0" i="0" baseline="0" dirty="0" err="1">
                          <a:solidFill>
                            <a:schemeClr val="dk1"/>
                          </a:solidFill>
                          <a:latin typeface="Montserrat" pitchFamily="2" charset="0"/>
                        </a:rPr>
                        <a:t>cepat</a:t>
                      </a:r>
                      <a:endParaRPr lang="en-US" sz="1200" dirty="0">
                        <a:latin typeface="Montserrat" pitchFamily="2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4554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206065" y="1141439"/>
            <a:ext cx="1707533" cy="307731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 algn="ctr"/>
            <a:r>
              <a:rPr lang="en-US" sz="1200" b="1" dirty="0">
                <a:solidFill>
                  <a:schemeClr val="bg1"/>
                </a:solidFill>
                <a:latin typeface="Montserrat" panose="00000500000000000000" pitchFamily="2" charset="0"/>
              </a:rPr>
              <a:t>KOMPILASI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0361" y="1141438"/>
            <a:ext cx="1707533" cy="307731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 algn="ctr"/>
            <a:r>
              <a:rPr lang="en-US" sz="1200" b="1" dirty="0">
                <a:solidFill>
                  <a:schemeClr val="bg1"/>
                </a:solidFill>
                <a:latin typeface="Montserrat" panose="00000500000000000000" pitchFamily="2" charset="0"/>
              </a:rPr>
              <a:t>INTERPRETASI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2771800" y="1635646"/>
            <a:ext cx="576064" cy="792088"/>
            <a:chOff x="2771800" y="1275606"/>
            <a:chExt cx="576064" cy="792088"/>
          </a:xfrm>
        </p:grpSpPr>
        <p:sp>
          <p:nvSpPr>
            <p:cNvPr id="2" name="Snip Single Corner Rectangle 1"/>
            <p:cNvSpPr/>
            <p:nvPr/>
          </p:nvSpPr>
          <p:spPr>
            <a:xfrm>
              <a:off x="2771800" y="1275606"/>
              <a:ext cx="576064" cy="792088"/>
            </a:xfrm>
            <a:prstGeom prst="snip1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2843807" y="1563638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2843807" y="1635646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2843807" y="1707654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2843807" y="1779662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2843807" y="1851670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/>
          <p:cNvGrpSpPr/>
          <p:nvPr/>
        </p:nvGrpSpPr>
        <p:grpSpPr>
          <a:xfrm>
            <a:off x="5436096" y="1635646"/>
            <a:ext cx="576064" cy="792088"/>
            <a:chOff x="5436096" y="1275606"/>
            <a:chExt cx="576064" cy="792088"/>
          </a:xfrm>
        </p:grpSpPr>
        <p:sp>
          <p:nvSpPr>
            <p:cNvPr id="5" name="Snip Single Corner Rectangle 4"/>
            <p:cNvSpPr/>
            <p:nvPr/>
          </p:nvSpPr>
          <p:spPr>
            <a:xfrm>
              <a:off x="5436096" y="1275606"/>
              <a:ext cx="576064" cy="792088"/>
            </a:xfrm>
            <a:prstGeom prst="snip1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Connector 33"/>
            <p:cNvCxnSpPr/>
            <p:nvPr/>
          </p:nvCxnSpPr>
          <p:spPr>
            <a:xfrm>
              <a:off x="5508103" y="1563638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5508103" y="1635646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508103" y="1707654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5508103" y="1779662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5508103" y="1851670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ectangle 38"/>
          <p:cNvSpPr/>
          <p:nvPr/>
        </p:nvSpPr>
        <p:spPr>
          <a:xfrm>
            <a:off x="2206065" y="2711875"/>
            <a:ext cx="4371829" cy="93999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600"/>
              </a:spcAft>
              <a:buFont typeface="Arial" pitchFamily="34" charset="0"/>
              <a:buChar char="•"/>
            </a:pPr>
            <a:r>
              <a:rPr lang="sv-SE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Terdiri atas </a:t>
            </a:r>
            <a:r>
              <a:rPr lang="sv-SE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1000 </a:t>
            </a:r>
            <a:r>
              <a:rPr lang="sv-SE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baris kode program</a:t>
            </a:r>
          </a:p>
          <a:p>
            <a:pPr marL="285750" indent="-285750">
              <a:spcAft>
                <a:spcPts val="600"/>
              </a:spcAft>
              <a:buFont typeface="Arial" pitchFamily="34" charset="0"/>
              <a:buChar char="•"/>
            </a:pPr>
            <a:r>
              <a:rPr lang="sv-SE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Terdapat </a:t>
            </a:r>
            <a:r>
              <a:rPr lang="sv-SE" sz="1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error </a:t>
            </a:r>
            <a:r>
              <a:rPr lang="sv-SE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(kesalahan) di baris ke </a:t>
            </a:r>
            <a:r>
              <a:rPr lang="sv-SE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2</a:t>
            </a:r>
            <a:endParaRPr lang="sv-SE" sz="14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418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3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538212" y="1203598"/>
            <a:ext cx="1707533" cy="307731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 algn="ctr"/>
            <a:r>
              <a:rPr lang="en-US" sz="1200" b="1" dirty="0">
                <a:solidFill>
                  <a:schemeClr val="bg1"/>
                </a:solidFill>
                <a:latin typeface="Montserrat" panose="00000500000000000000" pitchFamily="2" charset="0"/>
              </a:rPr>
              <a:t>KOMPILASI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4103947" y="1707654"/>
            <a:ext cx="576064" cy="792088"/>
            <a:chOff x="2771800" y="1275606"/>
            <a:chExt cx="576064" cy="792088"/>
          </a:xfrm>
        </p:grpSpPr>
        <p:sp>
          <p:nvSpPr>
            <p:cNvPr id="2" name="Snip Single Corner Rectangle 1"/>
            <p:cNvSpPr/>
            <p:nvPr/>
          </p:nvSpPr>
          <p:spPr>
            <a:xfrm>
              <a:off x="2771800" y="1275606"/>
              <a:ext cx="576064" cy="792088"/>
            </a:xfrm>
            <a:prstGeom prst="snip1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2843807" y="1563638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2843807" y="1635646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2843807" y="1707654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2843807" y="1779662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2843807" y="1851670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ectangle 38"/>
          <p:cNvSpPr/>
          <p:nvPr/>
        </p:nvSpPr>
        <p:spPr>
          <a:xfrm>
            <a:off x="1804854" y="2778272"/>
            <a:ext cx="5174249" cy="585566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sv-SE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Periksa Source Code sampai baris ke </a:t>
            </a:r>
            <a:r>
              <a:rPr lang="sv-SE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1000</a:t>
            </a:r>
            <a:r>
              <a:rPr lang="sv-SE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, baru tampil pesan </a:t>
            </a:r>
            <a:r>
              <a:rPr lang="sv-SE" sz="1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error</a:t>
            </a:r>
            <a:endParaRPr lang="sv-SE" sz="1400" b="1" i="1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546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/>
          <p:nvPr/>
        </p:nvSpPr>
        <p:spPr>
          <a:xfrm>
            <a:off x="1827643" y="2778272"/>
            <a:ext cx="5174249" cy="585566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sv-SE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Periksa Source Code sampai baris ke </a:t>
            </a:r>
            <a:r>
              <a:rPr lang="sv-SE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2</a:t>
            </a:r>
            <a:r>
              <a:rPr lang="sv-SE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. Lalu, di baris ke </a:t>
            </a:r>
            <a:r>
              <a:rPr lang="sv-SE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2</a:t>
            </a:r>
            <a:r>
              <a:rPr lang="sv-SE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langsung muncul pesan </a:t>
            </a:r>
            <a:r>
              <a:rPr lang="sv-SE" sz="1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error</a:t>
            </a:r>
            <a:endParaRPr lang="sv-SE" sz="1400" b="1" i="1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427313" y="1203597"/>
            <a:ext cx="1707533" cy="307731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 algn="ctr"/>
            <a:r>
              <a:rPr lang="en-US" sz="1200" b="1" dirty="0">
                <a:solidFill>
                  <a:schemeClr val="bg1"/>
                </a:solidFill>
                <a:latin typeface="Montserrat" panose="00000500000000000000" pitchFamily="2" charset="0"/>
              </a:rPr>
              <a:t>INTERPRETASI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3993048" y="1697805"/>
            <a:ext cx="576064" cy="792088"/>
            <a:chOff x="5436096" y="1275606"/>
            <a:chExt cx="576064" cy="792088"/>
          </a:xfrm>
        </p:grpSpPr>
        <p:sp>
          <p:nvSpPr>
            <p:cNvPr id="24" name="Snip Single Corner Rectangle 23"/>
            <p:cNvSpPr/>
            <p:nvPr/>
          </p:nvSpPr>
          <p:spPr>
            <a:xfrm>
              <a:off x="5436096" y="1275606"/>
              <a:ext cx="576064" cy="792088"/>
            </a:xfrm>
            <a:prstGeom prst="snip1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4"/>
            <p:cNvCxnSpPr/>
            <p:nvPr/>
          </p:nvCxnSpPr>
          <p:spPr>
            <a:xfrm>
              <a:off x="5508103" y="1563638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5508103" y="1635646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5508103" y="1707654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5508103" y="1779662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5508103" y="1851670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59941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421865"/>
              </p:ext>
            </p:extLst>
          </p:nvPr>
        </p:nvGraphicFramePr>
        <p:xfrm>
          <a:off x="323528" y="339502"/>
          <a:ext cx="8496944" cy="27113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8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05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tserrat" pitchFamily="2" charset="0"/>
                        </a:rPr>
                        <a:t>KOMPILASI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tserrat" pitchFamily="2" charset="0"/>
                        </a:rPr>
                        <a:t>INTERPRETASI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05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200" dirty="0">
                          <a:latin typeface="Montserrat" pitchFamily="2" charset="0"/>
                        </a:rPr>
                        <a:t>Proses </a:t>
                      </a:r>
                      <a:r>
                        <a:rPr lang="en-US" sz="1200" dirty="0" err="1">
                          <a:latin typeface="Montserrat" pitchFamily="2" charset="0"/>
                        </a:rPr>
                        <a:t>memindai</a:t>
                      </a:r>
                      <a:r>
                        <a:rPr lang="en-US" sz="1200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baseline="0" dirty="0" err="1">
                          <a:latin typeface="Montserrat" pitchFamily="2" charset="0"/>
                        </a:rPr>
                        <a:t>kode</a:t>
                      </a:r>
                      <a:r>
                        <a:rPr lang="en-US" sz="1200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b="1" baseline="0" dirty="0" err="1">
                          <a:solidFill>
                            <a:srgbClr val="FF0000"/>
                          </a:solidFill>
                          <a:latin typeface="Montserrat" pitchFamily="2" charset="0"/>
                        </a:rPr>
                        <a:t>lebih</a:t>
                      </a:r>
                      <a:r>
                        <a:rPr lang="en-US" sz="1200" b="1" baseline="0" dirty="0">
                          <a:solidFill>
                            <a:srgbClr val="FF0000"/>
                          </a:solidFill>
                          <a:latin typeface="Montserrat" pitchFamily="2" charset="0"/>
                        </a:rPr>
                        <a:t> </a:t>
                      </a:r>
                      <a:r>
                        <a:rPr lang="en-US" sz="1200" b="1" baseline="0" dirty="0" err="1">
                          <a:solidFill>
                            <a:srgbClr val="FF0000"/>
                          </a:solidFill>
                          <a:latin typeface="Montserrat" pitchFamily="2" charset="0"/>
                        </a:rPr>
                        <a:t>cepat</a:t>
                      </a:r>
                      <a:endParaRPr lang="en-US" sz="1200" b="1" dirty="0">
                        <a:solidFill>
                          <a:srgbClr val="FF0000"/>
                        </a:solidFill>
                        <a:latin typeface="Montserra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200" dirty="0">
                          <a:latin typeface="Montserrat" pitchFamily="2" charset="0"/>
                        </a:rPr>
                        <a:t>Proses </a:t>
                      </a:r>
                      <a:r>
                        <a:rPr lang="en-US" sz="1200" dirty="0" err="1">
                          <a:latin typeface="Montserrat" pitchFamily="2" charset="0"/>
                        </a:rPr>
                        <a:t>memindai</a:t>
                      </a:r>
                      <a:r>
                        <a:rPr lang="en-US" sz="1200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baseline="0" dirty="0" err="1">
                          <a:latin typeface="Montserrat" pitchFamily="2" charset="0"/>
                        </a:rPr>
                        <a:t>kode</a:t>
                      </a:r>
                      <a:r>
                        <a:rPr lang="en-US" sz="1200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b="1" baseline="0" dirty="0" err="1">
                          <a:solidFill>
                            <a:schemeClr val="accent2"/>
                          </a:solidFill>
                          <a:latin typeface="Montserrat" pitchFamily="2" charset="0"/>
                        </a:rPr>
                        <a:t>lebih</a:t>
                      </a:r>
                      <a:r>
                        <a:rPr lang="en-US" sz="1200" b="1" baseline="0" dirty="0">
                          <a:solidFill>
                            <a:schemeClr val="accent2"/>
                          </a:solidFill>
                          <a:latin typeface="Montserrat" pitchFamily="2" charset="0"/>
                        </a:rPr>
                        <a:t> </a:t>
                      </a:r>
                      <a:r>
                        <a:rPr lang="en-US" sz="1200" b="1" baseline="0" dirty="0" err="1">
                          <a:solidFill>
                            <a:schemeClr val="accent2"/>
                          </a:solidFill>
                          <a:latin typeface="Montserrat" pitchFamily="2" charset="0"/>
                        </a:rPr>
                        <a:t>lambat</a:t>
                      </a:r>
                      <a:endParaRPr lang="en-US" sz="1200" b="1" dirty="0">
                        <a:solidFill>
                          <a:schemeClr val="accent2"/>
                        </a:solidFill>
                        <a:latin typeface="Montserrat" pitchFamily="2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05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200" b="1" dirty="0" err="1">
                          <a:solidFill>
                            <a:srgbClr val="FF0000"/>
                          </a:solidFill>
                          <a:latin typeface="Montserrat" pitchFamily="2" charset="0"/>
                        </a:rPr>
                        <a:t>Menghasilkan</a:t>
                      </a:r>
                      <a:r>
                        <a:rPr lang="en-US" sz="1200" dirty="0">
                          <a:latin typeface="Montserrat" pitchFamily="2" charset="0"/>
                        </a:rPr>
                        <a:t> file </a:t>
                      </a:r>
                      <a:r>
                        <a:rPr lang="en-US" sz="1200" i="1" dirty="0">
                          <a:latin typeface="Montserrat" pitchFamily="2" charset="0"/>
                        </a:rPr>
                        <a:t>executable</a:t>
                      </a:r>
                      <a:r>
                        <a:rPr lang="en-US" sz="1200" baseline="0" dirty="0">
                          <a:latin typeface="Montserrat" pitchFamily="2" charset="0"/>
                        </a:rPr>
                        <a:t> (.exe)</a:t>
                      </a:r>
                      <a:endParaRPr lang="en-US" sz="1200" dirty="0">
                        <a:latin typeface="Montserra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200" b="1" dirty="0" err="1">
                          <a:solidFill>
                            <a:schemeClr val="accent2"/>
                          </a:solidFill>
                          <a:latin typeface="Montserrat" pitchFamily="2" charset="0"/>
                        </a:rPr>
                        <a:t>Tidak</a:t>
                      </a: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Montserrat" pitchFamily="2" charset="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chemeClr val="accent2"/>
                          </a:solidFill>
                          <a:latin typeface="Montserrat" pitchFamily="2" charset="0"/>
                        </a:rPr>
                        <a:t>menghasilkan</a:t>
                      </a:r>
                      <a:r>
                        <a:rPr lang="en-US" sz="1200" dirty="0">
                          <a:latin typeface="Montserrat" pitchFamily="2" charset="0"/>
                        </a:rPr>
                        <a:t> file </a:t>
                      </a:r>
                      <a:r>
                        <a:rPr lang="en-US" sz="1200" i="1" dirty="0">
                          <a:latin typeface="Montserrat" pitchFamily="2" charset="0"/>
                        </a:rPr>
                        <a:t>executable </a:t>
                      </a:r>
                      <a:r>
                        <a:rPr lang="en-US" sz="1200" i="0" dirty="0" err="1">
                          <a:latin typeface="Montserrat" pitchFamily="2" charset="0"/>
                        </a:rPr>
                        <a:t>atau</a:t>
                      </a:r>
                      <a:r>
                        <a:rPr lang="en-US" sz="1200" i="1" dirty="0">
                          <a:latin typeface="Montserrat" pitchFamily="2" charset="0"/>
                        </a:rPr>
                        <a:t> 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200" i="1" dirty="0">
                          <a:latin typeface="Montserrat" pitchFamily="2" charset="0"/>
                        </a:rPr>
                        <a:t>standalone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05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200" b="1" dirty="0" err="1">
                          <a:solidFill>
                            <a:srgbClr val="FF0000"/>
                          </a:solidFill>
                          <a:latin typeface="Montserrat" pitchFamily="2" charset="0"/>
                        </a:rPr>
                        <a:t>Tidak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Montserrat" pitchFamily="2" charset="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FF0000"/>
                          </a:solidFill>
                          <a:latin typeface="Montserrat" pitchFamily="2" charset="0"/>
                        </a:rPr>
                        <a:t>Lintas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Montserrat" pitchFamily="2" charset="0"/>
                        </a:rPr>
                        <a:t> </a:t>
                      </a:r>
                      <a:r>
                        <a:rPr lang="en-US" sz="1200" dirty="0">
                          <a:latin typeface="Montserrat" pitchFamily="2" charset="0"/>
                        </a:rPr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200" b="1" dirty="0" err="1">
                          <a:solidFill>
                            <a:schemeClr val="accent2"/>
                          </a:solidFill>
                          <a:latin typeface="Montserrat" pitchFamily="2" charset="0"/>
                        </a:rPr>
                        <a:t>Lintas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Montserrat" pitchFamily="2" charset="0"/>
                        </a:rPr>
                        <a:t> </a:t>
                      </a:r>
                      <a:r>
                        <a:rPr lang="en-US" sz="1200" dirty="0">
                          <a:latin typeface="Montserrat" pitchFamily="2" charset="0"/>
                        </a:rPr>
                        <a:t>Platform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05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200" dirty="0">
                          <a:latin typeface="Montserrat" pitchFamily="2" charset="0"/>
                        </a:rPr>
                        <a:t>Source </a:t>
                      </a:r>
                      <a:r>
                        <a:rPr lang="en-US" sz="1200" dirty="0" err="1">
                          <a:latin typeface="Montserrat" pitchFamily="2" charset="0"/>
                        </a:rPr>
                        <a:t>Codenya</a:t>
                      </a:r>
                      <a:r>
                        <a:rPr lang="en-US" sz="120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dirty="0" err="1">
                          <a:latin typeface="Montserrat" pitchFamily="2" charset="0"/>
                        </a:rPr>
                        <a:t>hanya</a:t>
                      </a:r>
                      <a:r>
                        <a:rPr lang="en-US" sz="120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dirty="0" err="1">
                          <a:latin typeface="Montserrat" pitchFamily="2" charset="0"/>
                        </a:rPr>
                        <a:t>digunakan</a:t>
                      </a:r>
                      <a:r>
                        <a:rPr lang="en-US" sz="120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dirty="0" err="1">
                          <a:latin typeface="Montserrat" pitchFamily="2" charset="0"/>
                        </a:rPr>
                        <a:t>saat</a:t>
                      </a:r>
                      <a:r>
                        <a:rPr lang="en-US" sz="1200" dirty="0">
                          <a:latin typeface="Montserrat" pitchFamily="2" charset="0"/>
                        </a:rPr>
                        <a:t> proses</a:t>
                      </a:r>
                      <a:r>
                        <a:rPr lang="en-US" sz="1200" baseline="0" dirty="0">
                          <a:latin typeface="Montserrat" pitchFamily="2" charset="0"/>
                        </a:rPr>
                        <a:t> 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200" baseline="0" dirty="0" err="1">
                          <a:latin typeface="Montserrat" pitchFamily="2" charset="0"/>
                        </a:rPr>
                        <a:t>pembuatan</a:t>
                      </a:r>
                      <a:r>
                        <a:rPr lang="en-US" sz="1200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baseline="0" dirty="0" err="1">
                          <a:latin typeface="Montserrat" pitchFamily="2" charset="0"/>
                        </a:rPr>
                        <a:t>dan</a:t>
                      </a:r>
                      <a:r>
                        <a:rPr lang="en-US" sz="1200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baseline="0" dirty="0" err="1">
                          <a:latin typeface="Montserrat" pitchFamily="2" charset="0"/>
                        </a:rPr>
                        <a:t>perbaikan</a:t>
                      </a:r>
                      <a:r>
                        <a:rPr lang="en-US" sz="1200" baseline="0" dirty="0">
                          <a:latin typeface="Montserrat" pitchFamily="2" charset="0"/>
                        </a:rPr>
                        <a:t> program </a:t>
                      </a:r>
                      <a:r>
                        <a:rPr lang="en-US" sz="1200" baseline="0" dirty="0" err="1">
                          <a:latin typeface="Montserrat" pitchFamily="2" charset="0"/>
                        </a:rPr>
                        <a:t>sehingga</a:t>
                      </a:r>
                      <a:r>
                        <a:rPr lang="en-US" sz="1200" baseline="0" dirty="0">
                          <a:latin typeface="Montserrat" pitchFamily="2" charset="0"/>
                        </a:rPr>
                        <a:t> 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200" baseline="0" dirty="0">
                          <a:latin typeface="Montserrat" pitchFamily="2" charset="0"/>
                        </a:rPr>
                        <a:t>Source Code </a:t>
                      </a:r>
                      <a:r>
                        <a:rPr lang="en-US" sz="1200" baseline="0" dirty="0" err="1">
                          <a:latin typeface="Montserrat" pitchFamily="2" charset="0"/>
                        </a:rPr>
                        <a:t>tersebut</a:t>
                      </a:r>
                      <a:r>
                        <a:rPr lang="en-US" sz="1200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b="1" baseline="0" dirty="0" err="1">
                          <a:solidFill>
                            <a:srgbClr val="FF0000"/>
                          </a:solidFill>
                          <a:latin typeface="Montserrat" pitchFamily="2" charset="0"/>
                        </a:rPr>
                        <a:t>dapat</a:t>
                      </a:r>
                      <a:r>
                        <a:rPr lang="en-US" sz="1200" b="1" baseline="0" dirty="0">
                          <a:solidFill>
                            <a:srgbClr val="FF0000"/>
                          </a:solidFill>
                          <a:latin typeface="Montserrat" pitchFamily="2" charset="0"/>
                        </a:rPr>
                        <a:t> </a:t>
                      </a:r>
                      <a:r>
                        <a:rPr lang="en-US" sz="1200" b="1" baseline="0" dirty="0" err="1">
                          <a:solidFill>
                            <a:srgbClr val="FF0000"/>
                          </a:solidFill>
                          <a:latin typeface="Montserrat" pitchFamily="2" charset="0"/>
                        </a:rPr>
                        <a:t>disembunyikan</a:t>
                      </a:r>
                      <a:endParaRPr lang="en-US" sz="1200" b="1" dirty="0">
                        <a:solidFill>
                          <a:srgbClr val="FF0000"/>
                        </a:solidFill>
                        <a:latin typeface="Montserra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Montserrat" pitchFamily="2" charset="0"/>
                        </a:rPr>
                        <a:t>Source </a:t>
                      </a:r>
                      <a:r>
                        <a:rPr lang="en-US" sz="1200" dirty="0" err="1">
                          <a:latin typeface="Montserrat" pitchFamily="2" charset="0"/>
                        </a:rPr>
                        <a:t>Codenya</a:t>
                      </a:r>
                      <a:r>
                        <a:rPr lang="en-US" sz="120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dirty="0" err="1">
                          <a:latin typeface="Montserrat" pitchFamily="2" charset="0"/>
                        </a:rPr>
                        <a:t>digunakan</a:t>
                      </a:r>
                      <a:r>
                        <a:rPr lang="en-US" sz="120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dirty="0" err="1">
                          <a:latin typeface="Montserrat" pitchFamily="2" charset="0"/>
                        </a:rPr>
                        <a:t>ketika</a:t>
                      </a:r>
                      <a:r>
                        <a:rPr lang="en-US" sz="1200" dirty="0">
                          <a:latin typeface="Montserrat" pitchFamily="2" charset="0"/>
                        </a:rPr>
                        <a:t> program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Montserrat" pitchFamily="2" charset="0"/>
                        </a:rPr>
                        <a:t>dijalankan</a:t>
                      </a:r>
                      <a:r>
                        <a:rPr lang="en-US" sz="120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baseline="0" dirty="0" err="1">
                          <a:latin typeface="Montserrat" pitchFamily="2" charset="0"/>
                        </a:rPr>
                        <a:t>sehingga</a:t>
                      </a:r>
                      <a:r>
                        <a:rPr lang="en-US" sz="1200" baseline="0" dirty="0">
                          <a:latin typeface="Montserrat" pitchFamily="2" charset="0"/>
                        </a:rPr>
                        <a:t> Source Code </a:t>
                      </a:r>
                      <a:r>
                        <a:rPr lang="en-US" sz="1200" baseline="0" dirty="0" err="1">
                          <a:latin typeface="Montserrat" pitchFamily="2" charset="0"/>
                        </a:rPr>
                        <a:t>tersebut</a:t>
                      </a:r>
                      <a:r>
                        <a:rPr lang="en-US" sz="1200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sz="1200" b="1" baseline="0" dirty="0" err="1">
                          <a:solidFill>
                            <a:schemeClr val="accent2"/>
                          </a:solidFill>
                          <a:latin typeface="Montserrat" pitchFamily="2" charset="0"/>
                        </a:rPr>
                        <a:t>tidak</a:t>
                      </a:r>
                      <a:r>
                        <a:rPr lang="en-US" sz="1200" b="1" baseline="0" dirty="0">
                          <a:solidFill>
                            <a:schemeClr val="accent2"/>
                          </a:solidFill>
                          <a:latin typeface="Montserrat" pitchFamily="2" charset="0"/>
                        </a:rPr>
                        <a:t>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baseline="0" dirty="0" err="1">
                          <a:solidFill>
                            <a:schemeClr val="accent2"/>
                          </a:solidFill>
                          <a:latin typeface="Montserrat" pitchFamily="2" charset="0"/>
                        </a:rPr>
                        <a:t>dapat</a:t>
                      </a:r>
                      <a:r>
                        <a:rPr lang="en-US" sz="1200" b="1" baseline="0" dirty="0">
                          <a:solidFill>
                            <a:schemeClr val="accent2"/>
                          </a:solidFill>
                          <a:latin typeface="Montserrat" pitchFamily="2" charset="0"/>
                        </a:rPr>
                        <a:t> </a:t>
                      </a:r>
                      <a:r>
                        <a:rPr lang="en-US" sz="1200" b="1" baseline="0" dirty="0" err="1">
                          <a:solidFill>
                            <a:schemeClr val="accent2"/>
                          </a:solidFill>
                          <a:latin typeface="Montserrat" pitchFamily="2" charset="0"/>
                        </a:rPr>
                        <a:t>disembunyikan</a:t>
                      </a:r>
                      <a:endParaRPr lang="en-US" sz="1200" b="1" dirty="0">
                        <a:solidFill>
                          <a:schemeClr val="accent2"/>
                        </a:solidFill>
                        <a:latin typeface="Montserrat" pitchFamily="2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6076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771800" y="1141439"/>
            <a:ext cx="3240360" cy="307731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 algn="ctr"/>
            <a:r>
              <a:rPr lang="en-US" sz="1200" b="1" dirty="0">
                <a:solidFill>
                  <a:schemeClr val="bg1"/>
                </a:solidFill>
                <a:latin typeface="Montserrat" panose="00000500000000000000" pitchFamily="2" charset="0"/>
              </a:rPr>
              <a:t>KOMPILASI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2771800" y="1635646"/>
            <a:ext cx="576064" cy="792088"/>
            <a:chOff x="2771800" y="1275606"/>
            <a:chExt cx="576064" cy="792088"/>
          </a:xfrm>
        </p:grpSpPr>
        <p:sp>
          <p:nvSpPr>
            <p:cNvPr id="2" name="Snip Single Corner Rectangle 1"/>
            <p:cNvSpPr/>
            <p:nvPr/>
          </p:nvSpPr>
          <p:spPr>
            <a:xfrm>
              <a:off x="2771800" y="1275606"/>
              <a:ext cx="576064" cy="792088"/>
            </a:xfrm>
            <a:prstGeom prst="snip1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2843807" y="1563638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2843807" y="1635646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2843807" y="1707654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2843807" y="1779662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2843807" y="1851670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ectangle 38"/>
          <p:cNvSpPr/>
          <p:nvPr/>
        </p:nvSpPr>
        <p:spPr>
          <a:xfrm>
            <a:off x="2450346" y="2585361"/>
            <a:ext cx="1218971" cy="28169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sv-SE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Source Code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5436096" y="1635646"/>
            <a:ext cx="576064" cy="792088"/>
            <a:chOff x="2771800" y="1275606"/>
            <a:chExt cx="576064" cy="792088"/>
          </a:xfrm>
        </p:grpSpPr>
        <p:sp>
          <p:nvSpPr>
            <p:cNvPr id="29" name="Snip Single Corner Rectangle 28"/>
            <p:cNvSpPr/>
            <p:nvPr/>
          </p:nvSpPr>
          <p:spPr>
            <a:xfrm>
              <a:off x="2771800" y="1275606"/>
              <a:ext cx="576064" cy="792088"/>
            </a:xfrm>
            <a:prstGeom prst="snip1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Connector 29"/>
            <p:cNvCxnSpPr/>
            <p:nvPr/>
          </p:nvCxnSpPr>
          <p:spPr>
            <a:xfrm>
              <a:off x="2843807" y="1563638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2843807" y="1635646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2843807" y="1707654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2843807" y="1779662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2843807" y="1851670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" name="Straight Arrow Connector 3"/>
          <p:cNvCxnSpPr/>
          <p:nvPr/>
        </p:nvCxnSpPr>
        <p:spPr>
          <a:xfrm>
            <a:off x="3995936" y="2067694"/>
            <a:ext cx="828092" cy="0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5114641" y="2584919"/>
            <a:ext cx="1218971" cy="28169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sv-SE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File .exe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782494" y="1707654"/>
            <a:ext cx="1218971" cy="21602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sv-SE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Dikompilasi</a:t>
            </a:r>
          </a:p>
        </p:txBody>
      </p:sp>
    </p:spTree>
    <p:extLst>
      <p:ext uri="{BB962C8B-B14F-4D97-AF65-F5344CB8AC3E}">
        <p14:creationId xmlns:p14="http://schemas.microsoft.com/office/powerpoint/2010/main" val="2939741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9" grpId="0" animBg="1"/>
      <p:bldP spid="43" grpId="0" animBg="1"/>
      <p:bldP spid="5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/>
          <p:nvPr/>
        </p:nvSpPr>
        <p:spPr>
          <a:xfrm>
            <a:off x="2450346" y="2585361"/>
            <a:ext cx="1218971" cy="28169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sv-SE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Source Code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3995936" y="2067694"/>
            <a:ext cx="828092" cy="0"/>
          </a:xfrm>
          <a:prstGeom prst="straightConnector1">
            <a:avLst/>
          </a:prstGeom>
          <a:ln w="127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5114641" y="2584919"/>
            <a:ext cx="1218971" cy="28169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sv-SE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Source Code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71800" y="1141439"/>
            <a:ext cx="3240360" cy="307731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 algn="ctr"/>
            <a:r>
              <a:rPr lang="en-US" sz="1200" b="1" dirty="0">
                <a:solidFill>
                  <a:schemeClr val="bg1"/>
                </a:solidFill>
                <a:latin typeface="Montserrat" panose="00000500000000000000" pitchFamily="2" charset="0"/>
              </a:rPr>
              <a:t>INTERPRETASI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2771799" y="1635646"/>
            <a:ext cx="576064" cy="792088"/>
            <a:chOff x="5436096" y="1275606"/>
            <a:chExt cx="576064" cy="792088"/>
          </a:xfrm>
        </p:grpSpPr>
        <p:sp>
          <p:nvSpPr>
            <p:cNvPr id="26" name="Snip Single Corner Rectangle 25"/>
            <p:cNvSpPr/>
            <p:nvPr/>
          </p:nvSpPr>
          <p:spPr>
            <a:xfrm>
              <a:off x="5436096" y="1275606"/>
              <a:ext cx="576064" cy="792088"/>
            </a:xfrm>
            <a:prstGeom prst="snip1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/>
            <p:cNvCxnSpPr/>
            <p:nvPr/>
          </p:nvCxnSpPr>
          <p:spPr>
            <a:xfrm>
              <a:off x="5508103" y="1563638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508103" y="1635646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5508103" y="1707654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508103" y="1779662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5508103" y="1851670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/>
          <p:cNvGrpSpPr/>
          <p:nvPr/>
        </p:nvGrpSpPr>
        <p:grpSpPr>
          <a:xfrm>
            <a:off x="5436094" y="1635646"/>
            <a:ext cx="576064" cy="792088"/>
            <a:chOff x="5436096" y="1275606"/>
            <a:chExt cx="576064" cy="792088"/>
          </a:xfrm>
        </p:grpSpPr>
        <p:sp>
          <p:nvSpPr>
            <p:cNvPr id="41" name="Snip Single Corner Rectangle 40"/>
            <p:cNvSpPr/>
            <p:nvPr/>
          </p:nvSpPr>
          <p:spPr>
            <a:xfrm>
              <a:off x="5436096" y="1275606"/>
              <a:ext cx="576064" cy="792088"/>
            </a:xfrm>
            <a:prstGeom prst="snip1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/>
            <p:cNvCxnSpPr/>
            <p:nvPr/>
          </p:nvCxnSpPr>
          <p:spPr>
            <a:xfrm>
              <a:off x="5508103" y="1563638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5508103" y="1635646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5508103" y="1707654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5508103" y="1779662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5508103" y="1851670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Rectangle 48"/>
          <p:cNvSpPr/>
          <p:nvPr/>
        </p:nvSpPr>
        <p:spPr>
          <a:xfrm>
            <a:off x="3782494" y="1707654"/>
            <a:ext cx="1218971" cy="21602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sv-SE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Diduplikat</a:t>
            </a:r>
          </a:p>
        </p:txBody>
      </p:sp>
    </p:spTree>
    <p:extLst>
      <p:ext uri="{BB962C8B-B14F-4D97-AF65-F5344CB8AC3E}">
        <p14:creationId xmlns:p14="http://schemas.microsoft.com/office/powerpoint/2010/main" val="1500855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3" grpId="0" animBg="1"/>
      <p:bldP spid="22" grpId="0" animBg="1"/>
      <p:bldP spid="4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334645" y="1141439"/>
            <a:ext cx="3240360" cy="307731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 algn="ctr"/>
            <a:r>
              <a:rPr lang="en-US" sz="1200" b="1" dirty="0">
                <a:solidFill>
                  <a:schemeClr val="bg1"/>
                </a:solidFill>
                <a:latin typeface="Montserrat" panose="00000500000000000000" pitchFamily="2" charset="0"/>
              </a:rPr>
              <a:t>HYBRID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1365062" y="1635646"/>
            <a:ext cx="576064" cy="792088"/>
            <a:chOff x="2771800" y="1275606"/>
            <a:chExt cx="576064" cy="792088"/>
          </a:xfrm>
        </p:grpSpPr>
        <p:sp>
          <p:nvSpPr>
            <p:cNvPr id="2" name="Snip Single Corner Rectangle 1"/>
            <p:cNvSpPr/>
            <p:nvPr/>
          </p:nvSpPr>
          <p:spPr>
            <a:xfrm>
              <a:off x="2771800" y="1275606"/>
              <a:ext cx="576064" cy="792088"/>
            </a:xfrm>
            <a:prstGeom prst="snip1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2843807" y="1563638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2843807" y="1635646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2843807" y="1707654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2843807" y="1779662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2843807" y="1851670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ectangle 38"/>
          <p:cNvSpPr/>
          <p:nvPr/>
        </p:nvSpPr>
        <p:spPr>
          <a:xfrm>
            <a:off x="1043608" y="2585361"/>
            <a:ext cx="1218971" cy="28169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sv-SE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Source Code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2589198" y="2067694"/>
            <a:ext cx="828092" cy="0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2375756" y="1707654"/>
            <a:ext cx="1218971" cy="21602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sv-SE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Dikompilasi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4029356" y="1635646"/>
            <a:ext cx="576064" cy="792088"/>
            <a:chOff x="5436096" y="1275606"/>
            <a:chExt cx="576064" cy="792088"/>
          </a:xfrm>
        </p:grpSpPr>
        <p:sp>
          <p:nvSpPr>
            <p:cNvPr id="38" name="Snip Single Corner Rectangle 37"/>
            <p:cNvSpPr/>
            <p:nvPr/>
          </p:nvSpPr>
          <p:spPr>
            <a:xfrm>
              <a:off x="5436096" y="1275606"/>
              <a:ext cx="576064" cy="792088"/>
            </a:xfrm>
            <a:prstGeom prst="snip1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/>
            <p:cNvCxnSpPr/>
            <p:nvPr/>
          </p:nvCxnSpPr>
          <p:spPr>
            <a:xfrm>
              <a:off x="5508103" y="1563638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5508103" y="1635646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5508103" y="1707654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5508103" y="1779662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5508103" y="1851670"/>
              <a:ext cx="4320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Rectangle 48"/>
          <p:cNvSpPr/>
          <p:nvPr/>
        </p:nvSpPr>
        <p:spPr>
          <a:xfrm>
            <a:off x="3707903" y="2584919"/>
            <a:ext cx="1218971" cy="28169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sv-SE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ByteCode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461950" y="3291710"/>
            <a:ext cx="2985747" cy="36016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sv-SE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Contoh : Java, C#, Python, dsb.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20072" y="1629395"/>
            <a:ext cx="2880320" cy="36629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sv-SE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JIT (Just In Time) Compilation</a:t>
            </a:r>
          </a:p>
        </p:txBody>
      </p:sp>
    </p:spTree>
    <p:extLst>
      <p:ext uri="{BB962C8B-B14F-4D97-AF65-F5344CB8AC3E}">
        <p14:creationId xmlns:p14="http://schemas.microsoft.com/office/powerpoint/2010/main" val="1060675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9" grpId="0" animBg="1"/>
      <p:bldP spid="58" grpId="0" animBg="1"/>
      <p:bldP spid="49" grpId="0" animBg="1"/>
      <p:bldP spid="51" grpId="0" animBg="1"/>
      <p:bldP spid="54" grpId="0" animBg="1"/>
    </p:bldLst>
  </p:timing>
</p:sld>
</file>

<file path=ppt/theme/theme1.xml><?xml version="1.0" encoding="utf-8"?>
<a:theme xmlns:a="http://schemas.openxmlformats.org/drawingml/2006/main" name="Cover and End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75000"/>
            <a:lumOff val="2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4086</TotalTime>
  <Words>293</Words>
  <Application>Microsoft Office PowerPoint</Application>
  <PresentationFormat>On-screen Show (16:9)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Mistral</vt:lpstr>
      <vt:lpstr>Montserrat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ekyzupaldry@gmail.com</cp:lastModifiedBy>
  <cp:revision>382</cp:revision>
  <dcterms:created xsi:type="dcterms:W3CDTF">2016-12-05T23:26:54Z</dcterms:created>
  <dcterms:modified xsi:type="dcterms:W3CDTF">2023-06-25T16:50:03Z</dcterms:modified>
</cp:coreProperties>
</file>